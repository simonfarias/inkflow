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Simón. Hola, somos Simón Farías y Franklin Miranda. Este es el L1 de nuestro proyecto semestral: InkFlow, un sistema de gestión para un estudio de tatuajes. Vamos a mostrar el problema, cómo funciona hoy el proceso, qué cambió con la entrevista, el alcance, los requerimientos preliminares, la evaluación de viabilidad, la tecnología y la planificación del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Simón. Hoy un estudio de tatuajes coordina todo por canales distintos: los clientes escriben por Instagram o WhatsApp, cada tatuador lleva su propio calendario, los abonos se respaldan con capturas de transferencias y las versiones del diseño se mezclan en los chats. El resultado es que la información de un mismo trabajo está repartida, y encontrarla quita tiempo. Ese es el problema que queremos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Simón. Este es el proceso tal como lo describió el tatuador que entrevistamos, y como yo lo conozco como cliente. El cliente escribe, el tatuador cotiza con precio cerrado o por sesión, el cliente deja un abono, porque sin abono la hora no está reservada, se ajusta el diseño hasta aprobar una versión, vienen una o varias sesiones con semanas entre ellas para que la piel sane, y al final hay cuidados y, si hace falta, un retoque. Hoy cada uno de estos pasos ocurre en un canal distinto.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Simón. Entrevistamos a Juan Pablo, tatuador del estudio Alter Ego, y la entrevista cambió cinco cosas: agregamos la ficha del trabajo, porque el problema principal es buscar información en distintos lados; las sesiones pasaron a bloques de duración variable; el diseño se maneja por versiones; la agenda consolidada sube a prioridad alta; y los reportes del dueño salen del alcance, porque nunca aparecieron como necesidad.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Simón. El objetivo es especificar, diseñar y prototipar un sistema web que siga cada trabajo de principio a fin. Incluimos lo que resuelve los problemas que vimos: cotizaciones, abonos con saldo, versiones de diseño, agenda, cancelaciones, consentimiento y la ficha del trabajo. Dejamos fuera, de manera explícita, los pagos en línea, la integración con redes sociales, la atención de menores, que requiere autorización de un adulto, los retoques, los reportes y la parte contable.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Franklin. El sistema tiene cuatro actores con necesidades diferentes. El cliente pide cotizaciones, aprueba el diseño y reserva. El tatuador cotiza, sube diseños, define su disponibilidad y quiere revisar sus trabajos desde el celular. La recepción confirma abonos y coordina la agenda de todos. Y el dueño configura los tatuadores y la política de abonos y cancelación. Una misma persona puede tener más de un rol, por ejemplo un dueño que también tatúa.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Franklin. Identificamos 13 requerimientos funcionales, dentro del rango de 8 a 15 que pide el curso. Para el prototipo elegimos los 7 que forman el flujo principal: pedir y responder la cotización, registrar el abono, definir disponibilidad, reservar solo con abono, cancelar o reagendar según la política, y ver la ficha completa del trabajo. Los otros seis se especifican y se modelan, pero no se implementan en el prototipo.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Franklin. Los requerimientos no funcionales salen del dominio, no son genéricos. Privacidad: el cuestionario de salud lo ven solo el tatuador asignado y el dueño, porque son datos sensibles según la Ley 21.719. Consistencia: una sesión puede ocupar una jornada completa, así que dos reservas no pueden quedar en el mismo bloque. Usabilidad: en la entrevista apareció que si el sistema exige muchos formularios, el estudio vuelve a WhatsApp; por eso lo limitamos a tres pasos y uso desde el celular. Y seguridad básica por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Franklin. Revisamos el tema contra los seis criterios del enunciado. El dominio se entiende sin un experto, porque uno de nosotros lo conoce como cliente y lo confirmamos con un tatuador. Hay cuatro actores, 13 requerimientos funcionales y 4 no funcionales. Las clases candidatas son más de cinco: cliente, tatuador, trabajo, cotización, diseño, abono, sesión y consentimiento. Y el prototipo cubre una porción representativa: cotización, abono, reserva y ficha.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Franklin. Elegimos Java porque el modelo de clases que haremos en el L3 y L4 se traduce directo a código, y ambos podemos sostenerlo durante el semestre. Spring Boot con Thymeleaf nos da una web que funciona en el celular sin un frontend aparte, PostgreSQL nos permite usar transacciones para evitar reservas duplicadas, y GitHub deja la evidencia del trabajo de los dos. La idea es usar lo más simple que cumpla los requerimientos.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Simón. Cada laboratorio corresponde a una fase del ciclo de vida, y alternamos quién lidera cada entrega. Liderar significa coordinar, no hacerlo solo: los dos escribimos, hacemos commits y podemos explicar todo, porque hay entrevista individual en cada entrega. Nos reunimos una vez por semana, llevamos las tareas como issues en GitHub La PEP1 cae el 22 de octubre, junto al L3, así que adelantaremos el modelado; la PEP2 es el 10 de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Franklin. El riesgo principal es la carga de trabajo, porque somos dos; lo mitigamos con un alcance acotado y un prototipo que solo cubre el flujo principal. El segundo es que el alcance crezca, por eso dejamos las exclusiones por escrito. El tercero es que el L3 coincide con la PEP1 del 22 de octubre, así que adelantaremos el modelado a la semana 8. Y el cuarto es aprender el framework web, que mitigamos con una prueba mínima antes del 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Presentan ambos. En resumen, InkFlow busca que cada trabajo de un estudio de tatuajes esté en un solo lugar, desde la primera consulta hasta la última sesión. Los próximos pasos son validar los hallazgos con el tatuador, los casos de uso del L2 y mantener el repositorio activo con commits de los dos; el enlace está en pantalla.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simonfarias/inkflow"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6"/>
        </a:solidFill>
      </p:bgPr>
    </p:bg>
    <p:spTree>
      <p:nvGrpSpPr>
        <p:cNvPr id="1" name=""/>
        <p:cNvGrpSpPr/>
        <p:nvPr/>
      </p:nvGrpSpPr>
      <p:grpSpPr>
        <a:xfrm>
          <a:off x="0" y="0"/>
          <a:ext cx="0" cy="0"/>
          <a:chOff x="0" y="0"/>
          <a:chExt cx="0" cy="0"/>
        </a:xfrm>
      </p:grpSpPr>
      <p:sp>
        <p:nvSpPr>
          <p:cNvPr id="2" name="Text 0"/>
          <p:cNvSpPr txBox="1"/>
          <p:nvPr/>
        </p:nvSpPr>
        <p:spPr>
          <a:xfrm>
            <a:off x="457200" y="457200"/>
            <a:ext cx="7315200" cy="320040"/>
          </a:xfrm>
          <a:prstGeom prst="rect">
            <a:avLst/>
          </a:prstGeom>
          <a:noFill/>
          <a:ln/>
        </p:spPr>
        <p:txBody>
          <a:bodyPr wrap="square" lIns="0" tIns="0" rIns="0" bIns="0" rtlCol="0" anchor="ctr"/>
          <a:lstStyle/>
          <a:p>
            <a:pPr indent="0" marL="0">
              <a:buNone/>
            </a:pPr>
            <a:r>
              <a:rPr lang="en-US" sz="1200" spc="200" kern="0" dirty="0">
                <a:solidFill>
                  <a:srgbClr val="BDBDBD"/>
                </a:solidFill>
                <a:latin typeface="Calibri" pitchFamily="34" charset="0"/>
                <a:ea typeface="Calibri" pitchFamily="34" charset="-122"/>
                <a:cs typeface="Calibri" pitchFamily="34" charset="-120"/>
              </a:rPr>
              <a:t>FUNDAMENTOS DE INGENIERÍA DE SOFTWARE · LABORATORIO 1</a:t>
            </a:r>
            <a:endParaRPr lang="en-US" sz="1200" dirty="0"/>
          </a:p>
        </p:txBody>
      </p:sp>
      <p:sp>
        <p:nvSpPr>
          <p:cNvPr id="3" name="Text 1"/>
          <p:cNvSpPr txBox="1"/>
          <p:nvPr/>
        </p:nvSpPr>
        <p:spPr>
          <a:xfrm>
            <a:off x="457200" y="1417320"/>
            <a:ext cx="5943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InkFlow</a:t>
            </a:r>
            <a:endParaRPr lang="en-US" sz="5400" dirty="0"/>
          </a:p>
        </p:txBody>
      </p:sp>
      <p:sp>
        <p:nvSpPr>
          <p:cNvPr id="4" name="Text 2"/>
          <p:cNvSpPr txBox="1"/>
          <p:nvPr/>
        </p:nvSpPr>
        <p:spPr>
          <a:xfrm>
            <a:off x="457200" y="2377440"/>
            <a:ext cx="5943600" cy="45720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Sistema de gestión para un estudio de tatuajes</a:t>
            </a:r>
            <a:endParaRPr lang="en-US" sz="2200" dirty="0"/>
          </a:p>
        </p:txBody>
      </p:sp>
      <p:sp>
        <p:nvSpPr>
          <p:cNvPr id="5" name="Text 3"/>
          <p:cNvSpPr txBox="1"/>
          <p:nvPr/>
        </p:nvSpPr>
        <p:spPr>
          <a:xfrm>
            <a:off x="457200" y="2834640"/>
            <a:ext cx="5943600" cy="365760"/>
          </a:xfrm>
          <a:prstGeom prst="rect">
            <a:avLst/>
          </a:prstGeom>
          <a:noFill/>
          <a:ln/>
        </p:spPr>
        <p:txBody>
          <a:bodyPr wrap="square" lIns="0" tIns="0" rIns="0" bIns="0" rtlCol="0" anchor="ctr"/>
          <a:lstStyle/>
          <a:p>
            <a:pPr indent="0" marL="0">
              <a:buNone/>
            </a:pPr>
            <a:r>
              <a:rPr lang="en-US" sz="1600" i="1" dirty="0">
                <a:solidFill>
                  <a:srgbClr val="E57373"/>
                </a:solidFill>
                <a:latin typeface="Calibri" pitchFamily="34" charset="0"/>
                <a:ea typeface="Calibri" pitchFamily="34" charset="-122"/>
                <a:cs typeface="Calibri" pitchFamily="34" charset="-120"/>
              </a:rPr>
              <a:t>Definición y planificación del proyecto</a:t>
            </a:r>
            <a:endParaRPr lang="en-US" sz="1600" dirty="0"/>
          </a:p>
        </p:txBody>
      </p:sp>
      <p:sp>
        <p:nvSpPr>
          <p:cNvPr id="6" name="Shape 4"/>
          <p:cNvSpPr/>
          <p:nvPr/>
        </p:nvSpPr>
        <p:spPr>
          <a:xfrm>
            <a:off x="6675120" y="1325880"/>
            <a:ext cx="1737360" cy="1737360"/>
          </a:xfrm>
          <a:prstGeom prst="ellipse">
            <a:avLst/>
          </a:prstGeom>
          <a:solidFill>
            <a:srgbClr val="C62828"/>
          </a:solidFill>
          <a:ln w="12700">
            <a:solidFill>
              <a:srgbClr val="C62828"/>
            </a:solidFill>
            <a:prstDash val="solid"/>
          </a:ln>
        </p:spPr>
      </p:sp>
      <p:pic>
        <p:nvPicPr>
          <p:cNvPr id="7" name="Image 0" descr="preencoded.png">    </p:cNvPr>
          <p:cNvPicPr>
            <a:picLocks noChangeAspect="1"/>
          </p:cNvPicPr>
          <p:nvPr/>
        </p:nvPicPr>
        <p:blipFill>
          <a:blip r:embed="rId1"/>
          <a:stretch>
            <a:fillRect/>
          </a:stretch>
        </p:blipFill>
        <p:spPr>
          <a:xfrm>
            <a:off x="7109460" y="1760220"/>
            <a:ext cx="868680" cy="868680"/>
          </a:xfrm>
          <a:prstGeom prst="rect">
            <a:avLst/>
          </a:prstGeom>
        </p:spPr>
      </p:pic>
      <p:sp>
        <p:nvSpPr>
          <p:cNvPr id="8" name="Text 5"/>
          <p:cNvSpPr txBox="1"/>
          <p:nvPr/>
        </p:nvSpPr>
        <p:spPr>
          <a:xfrm>
            <a:off x="457200" y="4069080"/>
            <a:ext cx="6400800" cy="594360"/>
          </a:xfrm>
          <a:prstGeom prst="rect">
            <a:avLst/>
          </a:prstGeom>
          <a:noFill/>
          <a:ln/>
        </p:spPr>
        <p:txBody>
          <a:bodyPr wrap="square" lIns="0" tIns="0" rIns="0" bIns="0" rtlCol="0" anchor="ctr"/>
          <a:lstStyle/>
          <a:p>
            <a:pPr indent="0" marL="0">
              <a:buNone/>
            </a:pPr>
            <a:r>
              <a:rPr lang="en-US" sz="1300" dirty="0">
                <a:solidFill>
                  <a:srgbClr val="BDBDBD"/>
                </a:solidFill>
                <a:latin typeface="Calibri" pitchFamily="34" charset="0"/>
                <a:ea typeface="Calibri" pitchFamily="34" charset="-122"/>
                <a:cs typeface="Calibri" pitchFamily="34" charset="-120"/>
              </a:rPr>
              <a:t>Simón Farías · Franklin Miranda</a:t>
            </a:r>
            <a:endParaRPr lang="en-US" sz="1300" dirty="0"/>
          </a:p>
          <a:p>
            <a:pPr indent="0" marL="0">
              <a:buNone/>
            </a:pPr>
            <a:r>
              <a:rPr lang="en-US" sz="1300" dirty="0">
                <a:solidFill>
                  <a:srgbClr val="BDBDBD"/>
                </a:solidFill>
                <a:latin typeface="Calibri" pitchFamily="34" charset="0"/>
                <a:ea typeface="Calibri" pitchFamily="34" charset="-122"/>
                <a:cs typeface="Calibri" pitchFamily="34" charset="-120"/>
              </a:rPr>
              <a:t>USACH · Vespertino · Segundo semestre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El problema: la información está dispersa</a:t>
            </a:r>
            <a:endParaRPr lang="en-US" sz="2600" dirty="0"/>
          </a:p>
        </p:txBody>
      </p:sp>
      <p:sp>
        <p:nvSpPr>
          <p:cNvPr id="3" name="Text 1"/>
          <p:cNvSpPr txBox="1"/>
          <p:nvPr/>
        </p:nvSpPr>
        <p:spPr>
          <a:xfrm>
            <a:off x="457200" y="1188720"/>
            <a:ext cx="3840480" cy="868680"/>
          </a:xfrm>
          <a:prstGeom prst="rect">
            <a:avLst/>
          </a:prstGeom>
          <a:noFill/>
          <a:ln/>
        </p:spPr>
        <p:txBody>
          <a:bodyPr wrap="square" lIns="0" tIns="0" rIns="0" bIns="0" rtlCol="0" anchor="t"/>
          <a:lstStyle/>
          <a:p>
            <a:pPr indent="0" marL="0">
              <a:buNone/>
            </a:pPr>
            <a:r>
              <a:rPr lang="en-US" sz="1600" dirty="0">
                <a:solidFill>
                  <a:srgbClr val="161616"/>
                </a:solidFill>
                <a:latin typeface="Calibri" pitchFamily="34" charset="0"/>
                <a:ea typeface="Calibri" pitchFamily="34" charset="-122"/>
                <a:cs typeface="Calibri" pitchFamily="34" charset="-120"/>
              </a:rPr>
              <a:t>Cotizaciones, abonos, diseños y sesiones se coordinan hoy por mensajería y calendarios personales.</a:t>
            </a:r>
            <a:endParaRPr lang="en-US" sz="1600" dirty="0"/>
          </a:p>
        </p:txBody>
      </p:sp>
      <p:sp>
        <p:nvSpPr>
          <p:cNvPr id="4" name="Shape 2"/>
          <p:cNvSpPr/>
          <p:nvPr/>
        </p:nvSpPr>
        <p:spPr>
          <a:xfrm>
            <a:off x="457200" y="2286000"/>
            <a:ext cx="3840480" cy="1783080"/>
          </a:xfrm>
          <a:prstGeom prst="roundRect">
            <a:avLst>
              <a:gd name="adj" fmla="val 6154"/>
            </a:avLst>
          </a:prstGeom>
          <a:solidFill>
            <a:srgbClr val="F3F3F3"/>
          </a:solidFill>
          <a:ln w="12700">
            <a:solidFill>
              <a:srgbClr val="F3F3F3"/>
            </a:solidFill>
            <a:prstDash val="solid"/>
          </a:ln>
        </p:spPr>
      </p:sp>
      <p:sp>
        <p:nvSpPr>
          <p:cNvPr id="5" name="Text 3"/>
          <p:cNvSpPr txBox="1"/>
          <p:nvPr/>
        </p:nvSpPr>
        <p:spPr>
          <a:xfrm>
            <a:off x="685800" y="2423160"/>
            <a:ext cx="3429000" cy="1508760"/>
          </a:xfrm>
          <a:prstGeom prst="rect">
            <a:avLst/>
          </a:prstGeom>
          <a:noFill/>
          <a:ln/>
        </p:spPr>
        <p:txBody>
          <a:bodyPr wrap="square" lIns="0" tIns="0" rIns="0" bIns="0" rtlCol="0" anchor="ctr"/>
          <a:lstStyle/>
          <a:p>
            <a:pPr indent="0" marL="0">
              <a:spcAft>
                <a:spcPts val="800"/>
              </a:spcAft>
              <a:buNone/>
            </a:pPr>
            <a:r>
              <a:rPr lang="en-US" sz="1700" i="1" dirty="0">
                <a:solidFill>
                  <a:srgbClr val="161616"/>
                </a:solidFill>
                <a:latin typeface="Cambria" pitchFamily="34" charset="0"/>
                <a:ea typeface="Cambria" pitchFamily="34" charset="-122"/>
                <a:cs typeface="Cambria" pitchFamily="34" charset="-120"/>
              </a:rPr>
              <a:t>“Tener que buscar las cosas en cinco lugares distintos.”</a:t>
            </a:r>
            <a:endParaRPr lang="en-US" sz="1700" dirty="0"/>
          </a:p>
          <a:p>
            <a:pPr indent="0" marL="0">
              <a:spcAft>
                <a:spcPts val="800"/>
              </a:spcAft>
              <a:buNone/>
            </a:pPr>
            <a:r>
              <a:rPr lang="en-US" sz="1100" dirty="0">
                <a:solidFill>
                  <a:srgbClr val="5F6368"/>
                </a:solidFill>
                <a:latin typeface="Calibri" pitchFamily="34" charset="0"/>
                <a:ea typeface="Calibri" pitchFamily="34" charset="-122"/>
                <a:cs typeface="Calibri" pitchFamily="34" charset="-120"/>
              </a:rPr>
              <a:t>Juan Pablo, tatuador de Alter Ego, sobre el problema que eliminaría</a:t>
            </a:r>
            <a:endParaRPr lang="en-US" sz="1700" dirty="0"/>
          </a:p>
        </p:txBody>
      </p:sp>
      <p:sp>
        <p:nvSpPr>
          <p:cNvPr id="6" name="Shape 4"/>
          <p:cNvSpPr/>
          <p:nvPr/>
        </p:nvSpPr>
        <p:spPr>
          <a:xfrm>
            <a:off x="4709160" y="1234440"/>
            <a:ext cx="502920" cy="502920"/>
          </a:xfrm>
          <a:prstGeom prst="ellipse">
            <a:avLst/>
          </a:prstGeom>
          <a:solidFill>
            <a:srgbClr val="C62828"/>
          </a:solidFill>
          <a:ln w="12700">
            <a:solidFill>
              <a:srgbClr val="C62828"/>
            </a:solidFill>
            <a:prstDash val="solid"/>
          </a:ln>
        </p:spPr>
      </p:sp>
      <p:pic>
        <p:nvPicPr>
          <p:cNvPr id="7" name="Image 0" descr="preencoded.png">    </p:cNvPr>
          <p:cNvPicPr>
            <a:picLocks noChangeAspect="1"/>
          </p:cNvPicPr>
          <p:nvPr/>
        </p:nvPicPr>
        <p:blipFill>
          <a:blip r:embed="rId1"/>
          <a:stretch>
            <a:fillRect/>
          </a:stretch>
        </p:blipFill>
        <p:spPr>
          <a:xfrm>
            <a:off x="4834890" y="1360170"/>
            <a:ext cx="251460" cy="251460"/>
          </a:xfrm>
          <a:prstGeom prst="rect">
            <a:avLst/>
          </a:prstGeom>
        </p:spPr>
      </p:pic>
      <p:sp>
        <p:nvSpPr>
          <p:cNvPr id="8" name="Text 5"/>
          <p:cNvSpPr txBox="1"/>
          <p:nvPr/>
        </p:nvSpPr>
        <p:spPr>
          <a:xfrm>
            <a:off x="5394960" y="1234440"/>
            <a:ext cx="3291840" cy="502920"/>
          </a:xfrm>
          <a:prstGeom prst="rect">
            <a:avLst/>
          </a:prstGeom>
          <a:noFill/>
          <a:ln/>
        </p:spPr>
        <p:txBody>
          <a:bodyPr wrap="square" lIns="0" tIns="0" rIns="0" bIns="0" rtlCol="0" anchor="ctr"/>
          <a:lstStyle/>
          <a:p>
            <a:pPr indent="0" marL="0">
              <a:buNone/>
            </a:pPr>
            <a:r>
              <a:rPr lang="en-US" sz="1500" dirty="0">
                <a:solidFill>
                  <a:srgbClr val="161616"/>
                </a:solidFill>
                <a:latin typeface="Calibri" pitchFamily="34" charset="0"/>
                <a:ea typeface="Calibri" pitchFamily="34" charset="-122"/>
                <a:cs typeface="Calibri" pitchFamily="34" charset="-120"/>
              </a:rPr>
              <a:t>Mensajes repartidos entre Instagram y WhatsApp</a:t>
            </a:r>
            <a:endParaRPr lang="en-US" sz="1500" dirty="0"/>
          </a:p>
        </p:txBody>
      </p:sp>
      <p:sp>
        <p:nvSpPr>
          <p:cNvPr id="9" name="Shape 6"/>
          <p:cNvSpPr/>
          <p:nvPr/>
        </p:nvSpPr>
        <p:spPr>
          <a:xfrm>
            <a:off x="4709160" y="1984248"/>
            <a:ext cx="502920" cy="502920"/>
          </a:xfrm>
          <a:prstGeom prst="ellipse">
            <a:avLst/>
          </a:prstGeom>
          <a:solidFill>
            <a:srgbClr val="C62828"/>
          </a:solidFill>
          <a:ln w="12700">
            <a:solidFill>
              <a:srgbClr val="C62828"/>
            </a:solidFill>
            <a:prstDash val="solid"/>
          </a:ln>
        </p:spPr>
      </p:sp>
      <p:pic>
        <p:nvPicPr>
          <p:cNvPr id="10" name="Image 1" descr="preencoded.png">    </p:cNvPr>
          <p:cNvPicPr>
            <a:picLocks noChangeAspect="1"/>
          </p:cNvPicPr>
          <p:nvPr/>
        </p:nvPicPr>
        <p:blipFill>
          <a:blip r:embed="rId2"/>
          <a:stretch>
            <a:fillRect/>
          </a:stretch>
        </p:blipFill>
        <p:spPr>
          <a:xfrm>
            <a:off x="4834890" y="2109978"/>
            <a:ext cx="251460" cy="251460"/>
          </a:xfrm>
          <a:prstGeom prst="rect">
            <a:avLst/>
          </a:prstGeom>
        </p:spPr>
      </p:pic>
      <p:sp>
        <p:nvSpPr>
          <p:cNvPr id="11" name="Text 7"/>
          <p:cNvSpPr txBox="1"/>
          <p:nvPr/>
        </p:nvSpPr>
        <p:spPr>
          <a:xfrm>
            <a:off x="5394960" y="1984248"/>
            <a:ext cx="3291840" cy="502920"/>
          </a:xfrm>
          <a:prstGeom prst="rect">
            <a:avLst/>
          </a:prstGeom>
          <a:noFill/>
          <a:ln/>
        </p:spPr>
        <p:txBody>
          <a:bodyPr wrap="square" lIns="0" tIns="0" rIns="0" bIns="0" rtlCol="0" anchor="ctr"/>
          <a:lstStyle/>
          <a:p>
            <a:pPr indent="0" marL="0">
              <a:buNone/>
            </a:pPr>
            <a:r>
              <a:rPr lang="en-US" sz="1500" dirty="0">
                <a:solidFill>
                  <a:srgbClr val="161616"/>
                </a:solidFill>
                <a:latin typeface="Calibri" pitchFamily="34" charset="0"/>
                <a:ea typeface="Calibri" pitchFamily="34" charset="-122"/>
                <a:cs typeface="Calibri" pitchFamily="34" charset="-120"/>
              </a:rPr>
              <a:t>Una agenda por tatuador, sin una vista común</a:t>
            </a:r>
            <a:endParaRPr lang="en-US" sz="1500" dirty="0"/>
          </a:p>
        </p:txBody>
      </p:sp>
      <p:sp>
        <p:nvSpPr>
          <p:cNvPr id="12" name="Shape 8"/>
          <p:cNvSpPr/>
          <p:nvPr/>
        </p:nvSpPr>
        <p:spPr>
          <a:xfrm>
            <a:off x="4709160" y="2734056"/>
            <a:ext cx="502920" cy="502920"/>
          </a:xfrm>
          <a:prstGeom prst="ellipse">
            <a:avLst/>
          </a:prstGeom>
          <a:solidFill>
            <a:srgbClr val="C62828"/>
          </a:solidFill>
          <a:ln w="12700">
            <a:solidFill>
              <a:srgbClr val="C62828"/>
            </a:solidFill>
            <a:prstDash val="solid"/>
          </a:ln>
        </p:spPr>
      </p:sp>
      <p:pic>
        <p:nvPicPr>
          <p:cNvPr id="13" name="Image 2" descr="preencoded.png">    </p:cNvPr>
          <p:cNvPicPr>
            <a:picLocks noChangeAspect="1"/>
          </p:cNvPicPr>
          <p:nvPr/>
        </p:nvPicPr>
        <p:blipFill>
          <a:blip r:embed="rId3"/>
          <a:stretch>
            <a:fillRect/>
          </a:stretch>
        </p:blipFill>
        <p:spPr>
          <a:xfrm>
            <a:off x="4834890" y="2859786"/>
            <a:ext cx="251460" cy="251460"/>
          </a:xfrm>
          <a:prstGeom prst="rect">
            <a:avLst/>
          </a:prstGeom>
        </p:spPr>
      </p:pic>
      <p:sp>
        <p:nvSpPr>
          <p:cNvPr id="14" name="Text 9"/>
          <p:cNvSpPr txBox="1"/>
          <p:nvPr/>
        </p:nvSpPr>
        <p:spPr>
          <a:xfrm>
            <a:off x="5394960" y="2734056"/>
            <a:ext cx="3291840" cy="502920"/>
          </a:xfrm>
          <a:prstGeom prst="rect">
            <a:avLst/>
          </a:prstGeom>
          <a:noFill/>
          <a:ln/>
        </p:spPr>
        <p:txBody>
          <a:bodyPr wrap="square" lIns="0" tIns="0" rIns="0" bIns="0" rtlCol="0" anchor="ctr"/>
          <a:lstStyle/>
          <a:p>
            <a:pPr indent="0" marL="0">
              <a:buNone/>
            </a:pPr>
            <a:r>
              <a:rPr lang="en-US" sz="1500" dirty="0">
                <a:solidFill>
                  <a:srgbClr val="161616"/>
                </a:solidFill>
                <a:latin typeface="Calibri" pitchFamily="34" charset="0"/>
                <a:ea typeface="Calibri" pitchFamily="34" charset="-122"/>
                <a:cs typeface="Calibri" pitchFamily="34" charset="-120"/>
              </a:rPr>
              <a:t>Abonos respaldados con capturas en el chat</a:t>
            </a:r>
            <a:endParaRPr lang="en-US" sz="1500" dirty="0"/>
          </a:p>
        </p:txBody>
      </p:sp>
      <p:sp>
        <p:nvSpPr>
          <p:cNvPr id="15" name="Shape 10"/>
          <p:cNvSpPr/>
          <p:nvPr/>
        </p:nvSpPr>
        <p:spPr>
          <a:xfrm>
            <a:off x="4709160" y="3483864"/>
            <a:ext cx="502920" cy="502920"/>
          </a:xfrm>
          <a:prstGeom prst="ellipse">
            <a:avLst/>
          </a:prstGeom>
          <a:solidFill>
            <a:srgbClr val="C62828"/>
          </a:solidFill>
          <a:ln w="12700">
            <a:solidFill>
              <a:srgbClr val="C62828"/>
            </a:solidFill>
            <a:prstDash val="solid"/>
          </a:ln>
        </p:spPr>
      </p:sp>
      <p:pic>
        <p:nvPicPr>
          <p:cNvPr id="16" name="Image 3" descr="preencoded.png">    </p:cNvPr>
          <p:cNvPicPr>
            <a:picLocks noChangeAspect="1"/>
          </p:cNvPicPr>
          <p:nvPr/>
        </p:nvPicPr>
        <p:blipFill>
          <a:blip r:embed="rId4"/>
          <a:stretch>
            <a:fillRect/>
          </a:stretch>
        </p:blipFill>
        <p:spPr>
          <a:xfrm>
            <a:off x="4834890" y="3609594"/>
            <a:ext cx="251460" cy="251460"/>
          </a:xfrm>
          <a:prstGeom prst="rect">
            <a:avLst/>
          </a:prstGeom>
        </p:spPr>
      </p:pic>
      <p:sp>
        <p:nvSpPr>
          <p:cNvPr id="17" name="Text 11"/>
          <p:cNvSpPr txBox="1"/>
          <p:nvPr/>
        </p:nvSpPr>
        <p:spPr>
          <a:xfrm>
            <a:off x="5394960" y="3483864"/>
            <a:ext cx="3291840" cy="502920"/>
          </a:xfrm>
          <a:prstGeom prst="rect">
            <a:avLst/>
          </a:prstGeom>
          <a:noFill/>
          <a:ln/>
        </p:spPr>
        <p:txBody>
          <a:bodyPr wrap="square" lIns="0" tIns="0" rIns="0" bIns="0" rtlCol="0" anchor="ctr"/>
          <a:lstStyle/>
          <a:p>
            <a:pPr indent="0" marL="0">
              <a:buNone/>
            </a:pPr>
            <a:r>
              <a:rPr lang="en-US" sz="1500" dirty="0">
                <a:solidFill>
                  <a:srgbClr val="161616"/>
                </a:solidFill>
                <a:latin typeface="Calibri" pitchFamily="34" charset="0"/>
                <a:ea typeface="Calibri" pitchFamily="34" charset="-122"/>
                <a:cs typeface="Calibri" pitchFamily="34" charset="-120"/>
              </a:rPr>
              <a:t>Versiones del diseño mezcladas en los chats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Cómo funciona hoy un trabajo de tatuaje</a:t>
            </a:r>
            <a:endParaRPr lang="en-US" sz="2600" dirty="0"/>
          </a:p>
        </p:txBody>
      </p:sp>
      <p:sp>
        <p:nvSpPr>
          <p:cNvPr id="3" name="Shape 1"/>
          <p:cNvSpPr/>
          <p:nvPr/>
        </p:nvSpPr>
        <p:spPr>
          <a:xfrm>
            <a:off x="1143000" y="1737360"/>
            <a:ext cx="6858000" cy="0"/>
          </a:xfrm>
          <a:prstGeom prst="line">
            <a:avLst/>
          </a:prstGeom>
          <a:noFill/>
          <a:ln w="25400">
            <a:solidFill>
              <a:srgbClr val="D0D0D0"/>
            </a:solidFill>
            <a:prstDash val="solid"/>
          </a:ln>
        </p:spPr>
      </p:sp>
      <p:sp>
        <p:nvSpPr>
          <p:cNvPr id="4" name="Shape 2"/>
          <p:cNvSpPr/>
          <p:nvPr/>
        </p:nvSpPr>
        <p:spPr>
          <a:xfrm>
            <a:off x="822960" y="1417320"/>
            <a:ext cx="640080" cy="640080"/>
          </a:xfrm>
          <a:prstGeom prst="ellipse">
            <a:avLst/>
          </a:prstGeom>
          <a:solidFill>
            <a:srgbClr val="C62828"/>
          </a:solidFill>
          <a:ln w="38100">
            <a:solidFill>
              <a:srgbClr val="FFFFFF"/>
            </a:solidFill>
            <a:prstDash val="solid"/>
          </a:ln>
        </p:spPr>
      </p:sp>
      <p:sp>
        <p:nvSpPr>
          <p:cNvPr id="5" name="Text 3"/>
          <p:cNvSpPr txBox="1"/>
          <p:nvPr/>
        </p:nvSpPr>
        <p:spPr>
          <a:xfrm>
            <a:off x="822960" y="14173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502920" y="2194560"/>
            <a:ext cx="1280160" cy="320040"/>
          </a:xfrm>
          <a:prstGeom prst="rect">
            <a:avLst/>
          </a:prstGeom>
          <a:noFill/>
          <a:ln/>
        </p:spPr>
        <p:txBody>
          <a:bodyPr wrap="square" lIns="0" tIns="0" rIns="0" bIns="0" rtlCol="0" anchor="ctr"/>
          <a:lstStyle/>
          <a:p>
            <a:pPr algn="ctr" indent="0" marL="0">
              <a:buNone/>
            </a:pPr>
            <a:r>
              <a:rPr lang="en-US" sz="1400" b="1" dirty="0">
                <a:solidFill>
                  <a:srgbClr val="161616"/>
                </a:solidFill>
                <a:latin typeface="Calibri" pitchFamily="34" charset="0"/>
                <a:ea typeface="Calibri" pitchFamily="34" charset="-122"/>
                <a:cs typeface="Calibri" pitchFamily="34" charset="-120"/>
              </a:rPr>
              <a:t>Contacto</a:t>
            </a:r>
            <a:endParaRPr lang="en-US" sz="1400" dirty="0"/>
          </a:p>
        </p:txBody>
      </p:sp>
      <p:sp>
        <p:nvSpPr>
          <p:cNvPr id="7" name="Text 5"/>
          <p:cNvSpPr txBox="1"/>
          <p:nvPr/>
        </p:nvSpPr>
        <p:spPr>
          <a:xfrm>
            <a:off x="502920" y="2542032"/>
            <a:ext cx="1280160" cy="731520"/>
          </a:xfrm>
          <a:prstGeom prst="rect">
            <a:avLst/>
          </a:prstGeom>
          <a:noFill/>
          <a:ln/>
        </p:spPr>
        <p:txBody>
          <a:bodyPr wrap="square" lIns="0" tIns="0" rIns="0" bIns="0" rtlCol="0" anchor="t"/>
          <a:lstStyle/>
          <a:p>
            <a:pPr algn="ctr" indent="0" marL="0">
              <a:buNone/>
            </a:pPr>
            <a:r>
              <a:rPr lang="en-US" sz="1150" dirty="0">
                <a:solidFill>
                  <a:srgbClr val="5F6368"/>
                </a:solidFill>
                <a:latin typeface="Calibri" pitchFamily="34" charset="0"/>
                <a:ea typeface="Calibri" pitchFamily="34" charset="-122"/>
                <a:cs typeface="Calibri" pitchFamily="34" charset="-120"/>
              </a:rPr>
              <a:t>Instagram o WhatsApp</a:t>
            </a:r>
            <a:endParaRPr lang="en-US" sz="1150" dirty="0"/>
          </a:p>
        </p:txBody>
      </p:sp>
      <p:sp>
        <p:nvSpPr>
          <p:cNvPr id="8" name="Shape 6"/>
          <p:cNvSpPr/>
          <p:nvPr/>
        </p:nvSpPr>
        <p:spPr>
          <a:xfrm>
            <a:off x="2194560" y="1417320"/>
            <a:ext cx="640080" cy="640080"/>
          </a:xfrm>
          <a:prstGeom prst="ellipse">
            <a:avLst/>
          </a:prstGeom>
          <a:solidFill>
            <a:srgbClr val="C62828"/>
          </a:solidFill>
          <a:ln w="38100">
            <a:solidFill>
              <a:srgbClr val="FFFFFF"/>
            </a:solidFill>
            <a:prstDash val="solid"/>
          </a:ln>
        </p:spPr>
      </p:sp>
      <p:sp>
        <p:nvSpPr>
          <p:cNvPr id="9" name="Text 7"/>
          <p:cNvSpPr txBox="1"/>
          <p:nvPr/>
        </p:nvSpPr>
        <p:spPr>
          <a:xfrm>
            <a:off x="2194560" y="14173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874520" y="2194560"/>
            <a:ext cx="1280160" cy="320040"/>
          </a:xfrm>
          <a:prstGeom prst="rect">
            <a:avLst/>
          </a:prstGeom>
          <a:noFill/>
          <a:ln/>
        </p:spPr>
        <p:txBody>
          <a:bodyPr wrap="square" lIns="0" tIns="0" rIns="0" bIns="0" rtlCol="0" anchor="ctr"/>
          <a:lstStyle/>
          <a:p>
            <a:pPr algn="ctr" indent="0" marL="0">
              <a:buNone/>
            </a:pPr>
            <a:r>
              <a:rPr lang="en-US" sz="1400" b="1" dirty="0">
                <a:solidFill>
                  <a:srgbClr val="161616"/>
                </a:solidFill>
                <a:latin typeface="Calibri" pitchFamily="34" charset="0"/>
                <a:ea typeface="Calibri" pitchFamily="34" charset="-122"/>
                <a:cs typeface="Calibri" pitchFamily="34" charset="-120"/>
              </a:rPr>
              <a:t>Cotización</a:t>
            </a:r>
            <a:endParaRPr lang="en-US" sz="1400" dirty="0"/>
          </a:p>
        </p:txBody>
      </p:sp>
      <p:sp>
        <p:nvSpPr>
          <p:cNvPr id="11" name="Text 9"/>
          <p:cNvSpPr txBox="1"/>
          <p:nvPr/>
        </p:nvSpPr>
        <p:spPr>
          <a:xfrm>
            <a:off x="1874520" y="2542032"/>
            <a:ext cx="1280160" cy="731520"/>
          </a:xfrm>
          <a:prstGeom prst="rect">
            <a:avLst/>
          </a:prstGeom>
          <a:noFill/>
          <a:ln/>
        </p:spPr>
        <p:txBody>
          <a:bodyPr wrap="square" lIns="0" tIns="0" rIns="0" bIns="0" rtlCol="0" anchor="t"/>
          <a:lstStyle/>
          <a:p>
            <a:pPr algn="ctr" indent="0" marL="0">
              <a:buNone/>
            </a:pPr>
            <a:r>
              <a:rPr lang="en-US" sz="1150" dirty="0">
                <a:solidFill>
                  <a:srgbClr val="5F6368"/>
                </a:solidFill>
                <a:latin typeface="Calibri" pitchFamily="34" charset="0"/>
                <a:ea typeface="Calibri" pitchFamily="34" charset="-122"/>
                <a:cs typeface="Calibri" pitchFamily="34" charset="-120"/>
              </a:rPr>
              <a:t>Precio cerrado o por sesión</a:t>
            </a:r>
            <a:endParaRPr lang="en-US" sz="1150" dirty="0"/>
          </a:p>
        </p:txBody>
      </p:sp>
      <p:sp>
        <p:nvSpPr>
          <p:cNvPr id="12" name="Shape 10"/>
          <p:cNvSpPr/>
          <p:nvPr/>
        </p:nvSpPr>
        <p:spPr>
          <a:xfrm>
            <a:off x="3566160" y="1417320"/>
            <a:ext cx="640080" cy="640080"/>
          </a:xfrm>
          <a:prstGeom prst="ellipse">
            <a:avLst/>
          </a:prstGeom>
          <a:solidFill>
            <a:srgbClr val="C62828"/>
          </a:solidFill>
          <a:ln w="38100">
            <a:solidFill>
              <a:srgbClr val="FFFFFF"/>
            </a:solidFill>
            <a:prstDash val="solid"/>
          </a:ln>
        </p:spPr>
      </p:sp>
      <p:sp>
        <p:nvSpPr>
          <p:cNvPr id="13" name="Text 11"/>
          <p:cNvSpPr txBox="1"/>
          <p:nvPr/>
        </p:nvSpPr>
        <p:spPr>
          <a:xfrm>
            <a:off x="3566160" y="14173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3246120" y="2194560"/>
            <a:ext cx="1280160" cy="320040"/>
          </a:xfrm>
          <a:prstGeom prst="rect">
            <a:avLst/>
          </a:prstGeom>
          <a:noFill/>
          <a:ln/>
        </p:spPr>
        <p:txBody>
          <a:bodyPr wrap="square" lIns="0" tIns="0" rIns="0" bIns="0" rtlCol="0" anchor="ctr"/>
          <a:lstStyle/>
          <a:p>
            <a:pPr algn="ctr" indent="0" marL="0">
              <a:buNone/>
            </a:pPr>
            <a:r>
              <a:rPr lang="en-US" sz="1400" b="1" dirty="0">
                <a:solidFill>
                  <a:srgbClr val="161616"/>
                </a:solidFill>
                <a:latin typeface="Calibri" pitchFamily="34" charset="0"/>
                <a:ea typeface="Calibri" pitchFamily="34" charset="-122"/>
                <a:cs typeface="Calibri" pitchFamily="34" charset="-120"/>
              </a:rPr>
              <a:t>Abono</a:t>
            </a:r>
            <a:endParaRPr lang="en-US" sz="1400" dirty="0"/>
          </a:p>
        </p:txBody>
      </p:sp>
      <p:sp>
        <p:nvSpPr>
          <p:cNvPr id="15" name="Text 13"/>
          <p:cNvSpPr txBox="1"/>
          <p:nvPr/>
        </p:nvSpPr>
        <p:spPr>
          <a:xfrm>
            <a:off x="3246120" y="2542032"/>
            <a:ext cx="1280160" cy="731520"/>
          </a:xfrm>
          <a:prstGeom prst="rect">
            <a:avLst/>
          </a:prstGeom>
          <a:noFill/>
          <a:ln/>
        </p:spPr>
        <p:txBody>
          <a:bodyPr wrap="square" lIns="0" tIns="0" rIns="0" bIns="0" rtlCol="0" anchor="t"/>
          <a:lstStyle/>
          <a:p>
            <a:pPr algn="ctr" indent="0" marL="0">
              <a:buNone/>
            </a:pPr>
            <a:r>
              <a:rPr lang="en-US" sz="1150" dirty="0">
                <a:solidFill>
                  <a:srgbClr val="5F6368"/>
                </a:solidFill>
                <a:latin typeface="Calibri" pitchFamily="34" charset="0"/>
                <a:ea typeface="Calibri" pitchFamily="34" charset="-122"/>
                <a:cs typeface="Calibri" pitchFamily="34" charset="-120"/>
              </a:rPr>
              <a:t>Por transferencia; sin abono no hay reserva</a:t>
            </a:r>
            <a:endParaRPr lang="en-US" sz="1150" dirty="0"/>
          </a:p>
        </p:txBody>
      </p:sp>
      <p:sp>
        <p:nvSpPr>
          <p:cNvPr id="16" name="Shape 14"/>
          <p:cNvSpPr/>
          <p:nvPr/>
        </p:nvSpPr>
        <p:spPr>
          <a:xfrm>
            <a:off x="4937760" y="1417320"/>
            <a:ext cx="640080" cy="640080"/>
          </a:xfrm>
          <a:prstGeom prst="ellipse">
            <a:avLst/>
          </a:prstGeom>
          <a:solidFill>
            <a:srgbClr val="C62828"/>
          </a:solidFill>
          <a:ln w="38100">
            <a:solidFill>
              <a:srgbClr val="FFFFFF"/>
            </a:solidFill>
            <a:prstDash val="solid"/>
          </a:ln>
        </p:spPr>
      </p:sp>
      <p:sp>
        <p:nvSpPr>
          <p:cNvPr id="17" name="Text 15"/>
          <p:cNvSpPr txBox="1"/>
          <p:nvPr/>
        </p:nvSpPr>
        <p:spPr>
          <a:xfrm>
            <a:off x="4937760" y="14173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4617720" y="2194560"/>
            <a:ext cx="1280160" cy="320040"/>
          </a:xfrm>
          <a:prstGeom prst="rect">
            <a:avLst/>
          </a:prstGeom>
          <a:noFill/>
          <a:ln/>
        </p:spPr>
        <p:txBody>
          <a:bodyPr wrap="square" lIns="0" tIns="0" rIns="0" bIns="0" rtlCol="0" anchor="ctr"/>
          <a:lstStyle/>
          <a:p>
            <a:pPr algn="ctr" indent="0" marL="0">
              <a:buNone/>
            </a:pPr>
            <a:r>
              <a:rPr lang="en-US" sz="1400" b="1" dirty="0">
                <a:solidFill>
                  <a:srgbClr val="161616"/>
                </a:solidFill>
                <a:latin typeface="Calibri" pitchFamily="34" charset="0"/>
                <a:ea typeface="Calibri" pitchFamily="34" charset="-122"/>
                <a:cs typeface="Calibri" pitchFamily="34" charset="-120"/>
              </a:rPr>
              <a:t>Diseño</a:t>
            </a:r>
            <a:endParaRPr lang="en-US" sz="1400" dirty="0"/>
          </a:p>
        </p:txBody>
      </p:sp>
      <p:sp>
        <p:nvSpPr>
          <p:cNvPr id="19" name="Text 17"/>
          <p:cNvSpPr txBox="1"/>
          <p:nvPr/>
        </p:nvSpPr>
        <p:spPr>
          <a:xfrm>
            <a:off x="4617720" y="2542032"/>
            <a:ext cx="1280160" cy="731520"/>
          </a:xfrm>
          <a:prstGeom prst="rect">
            <a:avLst/>
          </a:prstGeom>
          <a:noFill/>
          <a:ln/>
        </p:spPr>
        <p:txBody>
          <a:bodyPr wrap="square" lIns="0" tIns="0" rIns="0" bIns="0" rtlCol="0" anchor="t"/>
          <a:lstStyle/>
          <a:p>
            <a:pPr algn="ctr" indent="0" marL="0">
              <a:buNone/>
            </a:pPr>
            <a:r>
              <a:rPr lang="en-US" sz="1150" dirty="0">
                <a:solidFill>
                  <a:srgbClr val="5F6368"/>
                </a:solidFill>
                <a:latin typeface="Calibri" pitchFamily="34" charset="0"/>
                <a:ea typeface="Calibri" pitchFamily="34" charset="-122"/>
                <a:cs typeface="Calibri" pitchFamily="34" charset="-120"/>
              </a:rPr>
              <a:t>Ajustes hasta la versión aprobada</a:t>
            </a:r>
            <a:endParaRPr lang="en-US" sz="1150" dirty="0"/>
          </a:p>
        </p:txBody>
      </p:sp>
      <p:sp>
        <p:nvSpPr>
          <p:cNvPr id="20" name="Shape 18"/>
          <p:cNvSpPr/>
          <p:nvPr/>
        </p:nvSpPr>
        <p:spPr>
          <a:xfrm>
            <a:off x="6309360" y="1417320"/>
            <a:ext cx="640080" cy="640080"/>
          </a:xfrm>
          <a:prstGeom prst="ellipse">
            <a:avLst/>
          </a:prstGeom>
          <a:solidFill>
            <a:srgbClr val="C62828"/>
          </a:solidFill>
          <a:ln w="38100">
            <a:solidFill>
              <a:srgbClr val="FFFFFF"/>
            </a:solidFill>
            <a:prstDash val="solid"/>
          </a:ln>
        </p:spPr>
      </p:sp>
      <p:sp>
        <p:nvSpPr>
          <p:cNvPr id="21" name="Text 19"/>
          <p:cNvSpPr txBox="1"/>
          <p:nvPr/>
        </p:nvSpPr>
        <p:spPr>
          <a:xfrm>
            <a:off x="6309360" y="14173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txBox="1"/>
          <p:nvPr/>
        </p:nvSpPr>
        <p:spPr>
          <a:xfrm>
            <a:off x="5989320" y="2194560"/>
            <a:ext cx="1280160" cy="320040"/>
          </a:xfrm>
          <a:prstGeom prst="rect">
            <a:avLst/>
          </a:prstGeom>
          <a:noFill/>
          <a:ln/>
        </p:spPr>
        <p:txBody>
          <a:bodyPr wrap="square" lIns="0" tIns="0" rIns="0" bIns="0" rtlCol="0" anchor="ctr"/>
          <a:lstStyle/>
          <a:p>
            <a:pPr algn="ctr" indent="0" marL="0">
              <a:buNone/>
            </a:pPr>
            <a:r>
              <a:rPr lang="en-US" sz="1400" b="1" dirty="0">
                <a:solidFill>
                  <a:srgbClr val="161616"/>
                </a:solidFill>
                <a:latin typeface="Calibri" pitchFamily="34" charset="0"/>
                <a:ea typeface="Calibri" pitchFamily="34" charset="-122"/>
                <a:cs typeface="Calibri" pitchFamily="34" charset="-120"/>
              </a:rPr>
              <a:t>Sesiones</a:t>
            </a:r>
            <a:endParaRPr lang="en-US" sz="1400" dirty="0"/>
          </a:p>
        </p:txBody>
      </p:sp>
      <p:sp>
        <p:nvSpPr>
          <p:cNvPr id="23" name="Text 21"/>
          <p:cNvSpPr txBox="1"/>
          <p:nvPr/>
        </p:nvSpPr>
        <p:spPr>
          <a:xfrm>
            <a:off x="5989320" y="2542032"/>
            <a:ext cx="1280160" cy="731520"/>
          </a:xfrm>
          <a:prstGeom prst="rect">
            <a:avLst/>
          </a:prstGeom>
          <a:noFill/>
          <a:ln/>
        </p:spPr>
        <p:txBody>
          <a:bodyPr wrap="square" lIns="0" tIns="0" rIns="0" bIns="0" rtlCol="0" anchor="t"/>
          <a:lstStyle/>
          <a:p>
            <a:pPr algn="ctr" indent="0" marL="0">
              <a:buNone/>
            </a:pPr>
            <a:r>
              <a:rPr lang="en-US" sz="1150" dirty="0">
                <a:solidFill>
                  <a:srgbClr val="5F6368"/>
                </a:solidFill>
                <a:latin typeface="Calibri" pitchFamily="34" charset="0"/>
                <a:ea typeface="Calibri" pitchFamily="34" charset="-122"/>
                <a:cs typeface="Calibri" pitchFamily="34" charset="-120"/>
              </a:rPr>
              <a:t>Una o varias, con semanas entre ellas</a:t>
            </a:r>
            <a:endParaRPr lang="en-US" sz="1150" dirty="0"/>
          </a:p>
        </p:txBody>
      </p:sp>
      <p:sp>
        <p:nvSpPr>
          <p:cNvPr id="24" name="Shape 22"/>
          <p:cNvSpPr/>
          <p:nvPr/>
        </p:nvSpPr>
        <p:spPr>
          <a:xfrm>
            <a:off x="7680960" y="1417320"/>
            <a:ext cx="640080" cy="640080"/>
          </a:xfrm>
          <a:prstGeom prst="ellipse">
            <a:avLst/>
          </a:prstGeom>
          <a:solidFill>
            <a:srgbClr val="C62828"/>
          </a:solidFill>
          <a:ln w="38100">
            <a:solidFill>
              <a:srgbClr val="FFFFFF"/>
            </a:solidFill>
            <a:prstDash val="solid"/>
          </a:ln>
        </p:spPr>
      </p:sp>
      <p:sp>
        <p:nvSpPr>
          <p:cNvPr id="25" name="Text 23"/>
          <p:cNvSpPr txBox="1"/>
          <p:nvPr/>
        </p:nvSpPr>
        <p:spPr>
          <a:xfrm>
            <a:off x="7680960" y="14173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6" name="Text 24"/>
          <p:cNvSpPr txBox="1"/>
          <p:nvPr/>
        </p:nvSpPr>
        <p:spPr>
          <a:xfrm>
            <a:off x="7360920" y="2194560"/>
            <a:ext cx="1280160" cy="320040"/>
          </a:xfrm>
          <a:prstGeom prst="rect">
            <a:avLst/>
          </a:prstGeom>
          <a:noFill/>
          <a:ln/>
        </p:spPr>
        <p:txBody>
          <a:bodyPr wrap="square" lIns="0" tIns="0" rIns="0" bIns="0" rtlCol="0" anchor="ctr"/>
          <a:lstStyle/>
          <a:p>
            <a:pPr algn="ctr" indent="0" marL="0">
              <a:buNone/>
            </a:pPr>
            <a:r>
              <a:rPr lang="en-US" sz="1400" b="1" dirty="0">
                <a:solidFill>
                  <a:srgbClr val="161616"/>
                </a:solidFill>
                <a:latin typeface="Calibri" pitchFamily="34" charset="0"/>
                <a:ea typeface="Calibri" pitchFamily="34" charset="-122"/>
                <a:cs typeface="Calibri" pitchFamily="34" charset="-120"/>
              </a:rPr>
              <a:t>Cuidados</a:t>
            </a:r>
            <a:endParaRPr lang="en-US" sz="1400" dirty="0"/>
          </a:p>
        </p:txBody>
      </p:sp>
      <p:sp>
        <p:nvSpPr>
          <p:cNvPr id="27" name="Text 25"/>
          <p:cNvSpPr txBox="1"/>
          <p:nvPr/>
        </p:nvSpPr>
        <p:spPr>
          <a:xfrm>
            <a:off x="7360920" y="2542032"/>
            <a:ext cx="1280160" cy="731520"/>
          </a:xfrm>
          <a:prstGeom prst="rect">
            <a:avLst/>
          </a:prstGeom>
          <a:noFill/>
          <a:ln/>
        </p:spPr>
        <p:txBody>
          <a:bodyPr wrap="square" lIns="0" tIns="0" rIns="0" bIns="0" rtlCol="0" anchor="t"/>
          <a:lstStyle/>
          <a:p>
            <a:pPr algn="ctr" indent="0" marL="0">
              <a:buNone/>
            </a:pPr>
            <a:r>
              <a:rPr lang="en-US" sz="1150" dirty="0">
                <a:solidFill>
                  <a:srgbClr val="5F6368"/>
                </a:solidFill>
                <a:latin typeface="Calibri" pitchFamily="34" charset="0"/>
                <a:ea typeface="Calibri" pitchFamily="34" charset="-122"/>
                <a:cs typeface="Calibri" pitchFamily="34" charset="-120"/>
              </a:rPr>
              <a:t>Revisión y retoque caso a caso</a:t>
            </a:r>
            <a:endParaRPr lang="en-US" sz="1150" dirty="0"/>
          </a:p>
        </p:txBody>
      </p:sp>
      <p:sp>
        <p:nvSpPr>
          <p:cNvPr id="28" name="Shape 26"/>
          <p:cNvSpPr/>
          <p:nvPr/>
        </p:nvSpPr>
        <p:spPr>
          <a:xfrm>
            <a:off x="457200" y="3611880"/>
            <a:ext cx="8229600" cy="777240"/>
          </a:xfrm>
          <a:prstGeom prst="roundRect">
            <a:avLst>
              <a:gd name="adj" fmla="val 11765"/>
            </a:avLst>
          </a:prstGeom>
          <a:solidFill>
            <a:srgbClr val="F3F3F3"/>
          </a:solidFill>
          <a:ln w="12700">
            <a:solidFill>
              <a:srgbClr val="F3F3F3"/>
            </a:solidFill>
            <a:prstDash val="solid"/>
          </a:ln>
        </p:spPr>
      </p:sp>
      <p:sp>
        <p:nvSpPr>
          <p:cNvPr id="29" name="Text 27"/>
          <p:cNvSpPr txBox="1"/>
          <p:nvPr/>
        </p:nvSpPr>
        <p:spPr>
          <a:xfrm>
            <a:off x="685800" y="3611880"/>
            <a:ext cx="7772400" cy="777240"/>
          </a:xfrm>
          <a:prstGeom prst="rect">
            <a:avLst/>
          </a:prstGeom>
          <a:noFill/>
          <a:ln/>
        </p:spPr>
        <p:txBody>
          <a:bodyPr wrap="square" lIns="0" tIns="0" rIns="0" bIns="0" rtlCol="0" anchor="ctr"/>
          <a:lstStyle/>
          <a:p>
            <a:pPr indent="0" marL="0">
              <a:buNone/>
            </a:pPr>
            <a:r>
              <a:rPr lang="en-US" sz="1500" dirty="0">
                <a:solidFill>
                  <a:srgbClr val="161616"/>
                </a:solidFill>
                <a:latin typeface="Calibri" pitchFamily="34" charset="0"/>
                <a:ea typeface="Calibri" pitchFamily="34" charset="-122"/>
                <a:cs typeface="Calibri" pitchFamily="34" charset="-120"/>
              </a:rPr>
              <a:t>Hoy cada paso ocurre en un canal distinto. InkFlow los reúne en una sola ficha por trabajo.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Qué cambió con la entrevista</a:t>
            </a:r>
            <a:endParaRPr lang="en-US" sz="2600" dirty="0"/>
          </a:p>
        </p:txBody>
      </p:sp>
      <p:sp>
        <p:nvSpPr>
          <p:cNvPr id="3" name="Shape 1"/>
          <p:cNvSpPr/>
          <p:nvPr/>
        </p:nvSpPr>
        <p:spPr>
          <a:xfrm>
            <a:off x="457200" y="987552"/>
            <a:ext cx="6400800" cy="365760"/>
          </a:xfrm>
          <a:prstGeom prst="roundRect">
            <a:avLst>
              <a:gd name="adj" fmla="val 20000"/>
            </a:avLst>
          </a:prstGeom>
          <a:solidFill>
            <a:srgbClr val="FBE9E9"/>
          </a:solidFill>
          <a:ln w="12700">
            <a:solidFill>
              <a:srgbClr val="FBE9E9"/>
            </a:solidFill>
            <a:prstDash val="solid"/>
          </a:ln>
        </p:spPr>
      </p:sp>
      <p:sp>
        <p:nvSpPr>
          <p:cNvPr id="4" name="Text 2"/>
          <p:cNvSpPr txBox="1"/>
          <p:nvPr/>
        </p:nvSpPr>
        <p:spPr>
          <a:xfrm>
            <a:off x="594360" y="987552"/>
            <a:ext cx="6217920" cy="365760"/>
          </a:xfrm>
          <a:prstGeom prst="rect">
            <a:avLst/>
          </a:prstGeom>
          <a:noFill/>
          <a:ln/>
        </p:spPr>
        <p:txBody>
          <a:bodyPr wrap="square" lIns="0" tIns="0" rIns="0" bIns="0" rtlCol="0" anchor="ctr"/>
          <a:lstStyle/>
          <a:p>
            <a:pPr indent="0" marL="0">
              <a:buNone/>
            </a:pPr>
            <a:r>
              <a:rPr lang="en-US" sz="1200" b="1" dirty="0">
                <a:solidFill>
                  <a:srgbClr val="C62828"/>
                </a:solidFill>
                <a:latin typeface="Calibri" pitchFamily="34" charset="0"/>
                <a:ea typeface="Calibri" pitchFamily="34" charset="-122"/>
                <a:cs typeface="Calibri" pitchFamily="34" charset="-120"/>
              </a:rPr>
              <a:t>Entrevista con Juan Pablo, tatuador del estudio Alter Ego (Anexo A)</a:t>
            </a:r>
            <a:endParaRPr lang="en-US" sz="1200" dirty="0"/>
          </a:p>
        </p:txBody>
      </p:sp>
      <p:sp>
        <p:nvSpPr>
          <p:cNvPr id="5" name="Text 3"/>
          <p:cNvSpPr txBox="1"/>
          <p:nvPr/>
        </p:nvSpPr>
        <p:spPr>
          <a:xfrm>
            <a:off x="548640" y="1508760"/>
            <a:ext cx="3840480" cy="274320"/>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Hallazgo</a:t>
            </a:r>
            <a:endParaRPr lang="en-US" sz="1200" dirty="0"/>
          </a:p>
        </p:txBody>
      </p:sp>
      <p:sp>
        <p:nvSpPr>
          <p:cNvPr id="6" name="Text 4"/>
          <p:cNvSpPr txBox="1"/>
          <p:nvPr/>
        </p:nvSpPr>
        <p:spPr>
          <a:xfrm>
            <a:off x="4937760" y="1508760"/>
            <a:ext cx="3749040" cy="274320"/>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Cambio en los requerimientos</a:t>
            </a:r>
            <a:endParaRPr lang="en-US" sz="1200" dirty="0"/>
          </a:p>
        </p:txBody>
      </p:sp>
      <p:sp>
        <p:nvSpPr>
          <p:cNvPr id="7" name="Shape 5"/>
          <p:cNvSpPr/>
          <p:nvPr/>
        </p:nvSpPr>
        <p:spPr>
          <a:xfrm>
            <a:off x="411480" y="1828800"/>
            <a:ext cx="8321040" cy="502920"/>
          </a:xfrm>
          <a:prstGeom prst="rect">
            <a:avLst/>
          </a:prstGeom>
          <a:solidFill>
            <a:srgbClr val="F7F7F7"/>
          </a:solidFill>
          <a:ln w="12700">
            <a:solidFill>
              <a:srgbClr val="F7F7F7"/>
            </a:solidFill>
            <a:prstDash val="solid"/>
          </a:ln>
        </p:spPr>
      </p:sp>
      <p:sp>
        <p:nvSpPr>
          <p:cNvPr id="8" name="Text 6"/>
          <p:cNvSpPr txBox="1"/>
          <p:nvPr/>
        </p:nvSpPr>
        <p:spPr>
          <a:xfrm>
            <a:off x="548640" y="1828800"/>
            <a:ext cx="3840480" cy="502920"/>
          </a:xfrm>
          <a:prstGeom prst="rect">
            <a:avLst/>
          </a:prstGeom>
          <a:noFill/>
          <a:ln/>
        </p:spPr>
        <p:txBody>
          <a:bodyPr wrap="square" lIns="0" tIns="0" rIns="0" bIns="0" rtlCol="0" anchor="ctr"/>
          <a:lstStyle/>
          <a:p>
            <a:pPr indent="0" marL="0">
              <a:buNone/>
            </a:pPr>
            <a:r>
              <a:rPr lang="en-US" sz="1300" dirty="0">
                <a:solidFill>
                  <a:srgbClr val="161616"/>
                </a:solidFill>
                <a:latin typeface="Calibri" pitchFamily="34" charset="0"/>
                <a:ea typeface="Calibri" pitchFamily="34" charset="-122"/>
                <a:cs typeface="Calibri" pitchFamily="34" charset="-120"/>
              </a:rPr>
              <a:t>Quiere cada trabajo en un solo lugar</a:t>
            </a:r>
            <a:endParaRPr lang="en-US" sz="1300" dirty="0"/>
          </a:p>
        </p:txBody>
      </p:sp>
      <p:pic>
        <p:nvPicPr>
          <p:cNvPr id="9" name="Image 0" descr="preencoded.png">    </p:cNvPr>
          <p:cNvPicPr>
            <a:picLocks noChangeAspect="1"/>
          </p:cNvPicPr>
          <p:nvPr/>
        </p:nvPicPr>
        <p:blipFill>
          <a:blip r:embed="rId1"/>
          <a:stretch>
            <a:fillRect/>
          </a:stretch>
        </p:blipFill>
        <p:spPr>
          <a:xfrm>
            <a:off x="4526280" y="1956816"/>
            <a:ext cx="246888" cy="246888"/>
          </a:xfrm>
          <a:prstGeom prst="rect">
            <a:avLst/>
          </a:prstGeom>
        </p:spPr>
      </p:pic>
      <p:sp>
        <p:nvSpPr>
          <p:cNvPr id="10" name="Text 7"/>
          <p:cNvSpPr txBox="1"/>
          <p:nvPr/>
        </p:nvSpPr>
        <p:spPr>
          <a:xfrm>
            <a:off x="4937760" y="1828800"/>
            <a:ext cx="3749040" cy="502920"/>
          </a:xfrm>
          <a:prstGeom prst="rect">
            <a:avLst/>
          </a:prstGeom>
          <a:noFill/>
          <a:ln/>
        </p:spPr>
        <p:txBody>
          <a:bodyPr wrap="square" lIns="0" tIns="0" rIns="0" bIns="0"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Nuevo RF13: ficha del trabajo</a:t>
            </a:r>
            <a:endParaRPr lang="en-US" sz="1300" dirty="0"/>
          </a:p>
        </p:txBody>
      </p:sp>
      <p:sp>
        <p:nvSpPr>
          <p:cNvPr id="11" name="Text 8"/>
          <p:cNvSpPr txBox="1"/>
          <p:nvPr/>
        </p:nvSpPr>
        <p:spPr>
          <a:xfrm>
            <a:off x="548640" y="2377440"/>
            <a:ext cx="3840480" cy="502920"/>
          </a:xfrm>
          <a:prstGeom prst="rect">
            <a:avLst/>
          </a:prstGeom>
          <a:noFill/>
          <a:ln/>
        </p:spPr>
        <p:txBody>
          <a:bodyPr wrap="square" lIns="0" tIns="0" rIns="0" bIns="0" rtlCol="0" anchor="ctr"/>
          <a:lstStyle/>
          <a:p>
            <a:pPr indent="0" marL="0">
              <a:buNone/>
            </a:pPr>
            <a:r>
              <a:rPr lang="en-US" sz="1300" dirty="0">
                <a:solidFill>
                  <a:srgbClr val="161616"/>
                </a:solidFill>
                <a:latin typeface="Calibri" pitchFamily="34" charset="0"/>
                <a:ea typeface="Calibri" pitchFamily="34" charset="-122"/>
                <a:cs typeface="Calibri" pitchFamily="34" charset="-120"/>
              </a:rPr>
              <a:t>Una sesión puede durar cinco o seis horas</a:t>
            </a:r>
            <a:endParaRPr lang="en-US" sz="1300" dirty="0"/>
          </a:p>
        </p:txBody>
      </p:sp>
      <p:pic>
        <p:nvPicPr>
          <p:cNvPr id="12" name="Image 1" descr="preencoded.png">    </p:cNvPr>
          <p:cNvPicPr>
            <a:picLocks noChangeAspect="1"/>
          </p:cNvPicPr>
          <p:nvPr/>
        </p:nvPicPr>
        <p:blipFill>
          <a:blip r:embed="rId2"/>
          <a:stretch>
            <a:fillRect/>
          </a:stretch>
        </p:blipFill>
        <p:spPr>
          <a:xfrm>
            <a:off x="4526280" y="2505456"/>
            <a:ext cx="246888" cy="246888"/>
          </a:xfrm>
          <a:prstGeom prst="rect">
            <a:avLst/>
          </a:prstGeom>
        </p:spPr>
      </p:pic>
      <p:sp>
        <p:nvSpPr>
          <p:cNvPr id="13" name="Text 9"/>
          <p:cNvSpPr txBox="1"/>
          <p:nvPr/>
        </p:nvSpPr>
        <p:spPr>
          <a:xfrm>
            <a:off x="4937760" y="2377440"/>
            <a:ext cx="3749040" cy="502920"/>
          </a:xfrm>
          <a:prstGeom prst="rect">
            <a:avLst/>
          </a:prstGeom>
          <a:noFill/>
          <a:ln/>
        </p:spPr>
        <p:txBody>
          <a:bodyPr wrap="square" lIns="0" tIns="0" rIns="0" bIns="0"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Bloques de duración variable</a:t>
            </a:r>
            <a:endParaRPr lang="en-US" sz="1300" dirty="0"/>
          </a:p>
        </p:txBody>
      </p:sp>
      <p:sp>
        <p:nvSpPr>
          <p:cNvPr id="14" name="Shape 10"/>
          <p:cNvSpPr/>
          <p:nvPr/>
        </p:nvSpPr>
        <p:spPr>
          <a:xfrm>
            <a:off x="411480" y="2926080"/>
            <a:ext cx="8321040" cy="502920"/>
          </a:xfrm>
          <a:prstGeom prst="rect">
            <a:avLst/>
          </a:prstGeom>
          <a:solidFill>
            <a:srgbClr val="F7F7F7"/>
          </a:solidFill>
          <a:ln w="12700">
            <a:solidFill>
              <a:srgbClr val="F7F7F7"/>
            </a:solidFill>
            <a:prstDash val="solid"/>
          </a:ln>
        </p:spPr>
      </p:sp>
      <p:sp>
        <p:nvSpPr>
          <p:cNvPr id="15" name="Text 11"/>
          <p:cNvSpPr txBox="1"/>
          <p:nvPr/>
        </p:nvSpPr>
        <p:spPr>
          <a:xfrm>
            <a:off x="548640" y="2926080"/>
            <a:ext cx="3840480" cy="502920"/>
          </a:xfrm>
          <a:prstGeom prst="rect">
            <a:avLst/>
          </a:prstGeom>
          <a:noFill/>
          <a:ln/>
        </p:spPr>
        <p:txBody>
          <a:bodyPr wrap="square" lIns="0" tIns="0" rIns="0" bIns="0" rtlCol="0" anchor="ctr"/>
          <a:lstStyle/>
          <a:p>
            <a:pPr indent="0" marL="0">
              <a:buNone/>
            </a:pPr>
            <a:r>
              <a:rPr lang="en-US" sz="1300" dirty="0">
                <a:solidFill>
                  <a:srgbClr val="161616"/>
                </a:solidFill>
                <a:latin typeface="Calibri" pitchFamily="34" charset="0"/>
                <a:ea typeface="Calibri" pitchFamily="34" charset="-122"/>
                <a:cs typeface="Calibri" pitchFamily="34" charset="-120"/>
              </a:rPr>
              <a:t>Importa saber qué versión del diseño se aprobó</a:t>
            </a:r>
            <a:endParaRPr lang="en-US" sz="1300" dirty="0"/>
          </a:p>
        </p:txBody>
      </p:sp>
      <p:pic>
        <p:nvPicPr>
          <p:cNvPr id="16" name="Image 2" descr="preencoded.png">    </p:cNvPr>
          <p:cNvPicPr>
            <a:picLocks noChangeAspect="1"/>
          </p:cNvPicPr>
          <p:nvPr/>
        </p:nvPicPr>
        <p:blipFill>
          <a:blip r:embed="rId3"/>
          <a:stretch>
            <a:fillRect/>
          </a:stretch>
        </p:blipFill>
        <p:spPr>
          <a:xfrm>
            <a:off x="4526280" y="3054096"/>
            <a:ext cx="246888" cy="246888"/>
          </a:xfrm>
          <a:prstGeom prst="rect">
            <a:avLst/>
          </a:prstGeom>
        </p:spPr>
      </p:pic>
      <p:sp>
        <p:nvSpPr>
          <p:cNvPr id="17" name="Text 12"/>
          <p:cNvSpPr txBox="1"/>
          <p:nvPr/>
        </p:nvSpPr>
        <p:spPr>
          <a:xfrm>
            <a:off x="4937760" y="2926080"/>
            <a:ext cx="3749040" cy="502920"/>
          </a:xfrm>
          <a:prstGeom prst="rect">
            <a:avLst/>
          </a:prstGeom>
          <a:noFill/>
          <a:ln/>
        </p:spPr>
        <p:txBody>
          <a:bodyPr wrap="square" lIns="0" tIns="0" rIns="0" bIns="0"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Diseño con historial de versiones</a:t>
            </a:r>
            <a:endParaRPr lang="en-US" sz="1300" dirty="0"/>
          </a:p>
        </p:txBody>
      </p:sp>
      <p:sp>
        <p:nvSpPr>
          <p:cNvPr id="18" name="Text 13"/>
          <p:cNvSpPr txBox="1"/>
          <p:nvPr/>
        </p:nvSpPr>
        <p:spPr>
          <a:xfrm>
            <a:off x="548640" y="3474720"/>
            <a:ext cx="3840480" cy="502920"/>
          </a:xfrm>
          <a:prstGeom prst="rect">
            <a:avLst/>
          </a:prstGeom>
          <a:noFill/>
          <a:ln/>
        </p:spPr>
        <p:txBody>
          <a:bodyPr wrap="square" lIns="0" tIns="0" rIns="0" bIns="0" rtlCol="0" anchor="ctr"/>
          <a:lstStyle/>
          <a:p>
            <a:pPr indent="0" marL="0">
              <a:buNone/>
            </a:pPr>
            <a:r>
              <a:rPr lang="en-US" sz="1300" dirty="0">
                <a:solidFill>
                  <a:srgbClr val="161616"/>
                </a:solidFill>
                <a:latin typeface="Calibri" pitchFamily="34" charset="0"/>
                <a:ea typeface="Calibri" pitchFamily="34" charset="-122"/>
                <a:cs typeface="Calibri" pitchFamily="34" charset="-120"/>
              </a:rPr>
              <a:t>Coordinar exige preguntar a cada tatuador</a:t>
            </a:r>
            <a:endParaRPr lang="en-US" sz="1300" dirty="0"/>
          </a:p>
        </p:txBody>
      </p:sp>
      <p:pic>
        <p:nvPicPr>
          <p:cNvPr id="19" name="Image 3" descr="preencoded.png">    </p:cNvPr>
          <p:cNvPicPr>
            <a:picLocks noChangeAspect="1"/>
          </p:cNvPicPr>
          <p:nvPr/>
        </p:nvPicPr>
        <p:blipFill>
          <a:blip r:embed="rId4"/>
          <a:stretch>
            <a:fillRect/>
          </a:stretch>
        </p:blipFill>
        <p:spPr>
          <a:xfrm>
            <a:off x="4526280" y="3602736"/>
            <a:ext cx="246888" cy="246888"/>
          </a:xfrm>
          <a:prstGeom prst="rect">
            <a:avLst/>
          </a:prstGeom>
        </p:spPr>
      </p:pic>
      <p:sp>
        <p:nvSpPr>
          <p:cNvPr id="20" name="Text 14"/>
          <p:cNvSpPr txBox="1"/>
          <p:nvPr/>
        </p:nvSpPr>
        <p:spPr>
          <a:xfrm>
            <a:off x="4937760" y="3474720"/>
            <a:ext cx="3749040" cy="502920"/>
          </a:xfrm>
          <a:prstGeom prst="rect">
            <a:avLst/>
          </a:prstGeom>
          <a:noFill/>
          <a:ln/>
        </p:spPr>
        <p:txBody>
          <a:bodyPr wrap="square" lIns="0" tIns="0" rIns="0" bIns="0"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La agenda consolidada pasa a prioridad alta</a:t>
            </a:r>
            <a:endParaRPr lang="en-US" sz="1300" dirty="0"/>
          </a:p>
        </p:txBody>
      </p:sp>
      <p:sp>
        <p:nvSpPr>
          <p:cNvPr id="21" name="Shape 15"/>
          <p:cNvSpPr/>
          <p:nvPr/>
        </p:nvSpPr>
        <p:spPr>
          <a:xfrm>
            <a:off x="411480" y="4023360"/>
            <a:ext cx="8321040" cy="502920"/>
          </a:xfrm>
          <a:prstGeom prst="rect">
            <a:avLst/>
          </a:prstGeom>
          <a:solidFill>
            <a:srgbClr val="F7F7F7"/>
          </a:solidFill>
          <a:ln w="12700">
            <a:solidFill>
              <a:srgbClr val="F7F7F7"/>
            </a:solidFill>
            <a:prstDash val="solid"/>
          </a:ln>
        </p:spPr>
      </p:sp>
      <p:sp>
        <p:nvSpPr>
          <p:cNvPr id="22" name="Text 16"/>
          <p:cNvSpPr txBox="1"/>
          <p:nvPr/>
        </p:nvSpPr>
        <p:spPr>
          <a:xfrm>
            <a:off x="548640" y="4023360"/>
            <a:ext cx="3840480" cy="502920"/>
          </a:xfrm>
          <a:prstGeom prst="rect">
            <a:avLst/>
          </a:prstGeom>
          <a:noFill/>
          <a:ln/>
        </p:spPr>
        <p:txBody>
          <a:bodyPr wrap="square" lIns="0" tIns="0" rIns="0" bIns="0" rtlCol="0" anchor="ctr"/>
          <a:lstStyle/>
          <a:p>
            <a:pPr indent="0" marL="0">
              <a:buNone/>
            </a:pPr>
            <a:r>
              <a:rPr lang="en-US" sz="1300" dirty="0">
                <a:solidFill>
                  <a:srgbClr val="161616"/>
                </a:solidFill>
                <a:latin typeface="Calibri" pitchFamily="34" charset="0"/>
                <a:ea typeface="Calibri" pitchFamily="34" charset="-122"/>
                <a:cs typeface="Calibri" pitchFamily="34" charset="-120"/>
              </a:rPr>
              <a:t>Nunca mencionó reportes</a:t>
            </a:r>
            <a:endParaRPr lang="en-US" sz="1300" dirty="0"/>
          </a:p>
        </p:txBody>
      </p:sp>
      <p:pic>
        <p:nvPicPr>
          <p:cNvPr id="23" name="Image 4" descr="preencoded.png">    </p:cNvPr>
          <p:cNvPicPr>
            <a:picLocks noChangeAspect="1"/>
          </p:cNvPicPr>
          <p:nvPr/>
        </p:nvPicPr>
        <p:blipFill>
          <a:blip r:embed="rId5"/>
          <a:stretch>
            <a:fillRect/>
          </a:stretch>
        </p:blipFill>
        <p:spPr>
          <a:xfrm>
            <a:off x="4526280" y="4151376"/>
            <a:ext cx="246888" cy="246888"/>
          </a:xfrm>
          <a:prstGeom prst="rect">
            <a:avLst/>
          </a:prstGeom>
        </p:spPr>
      </p:pic>
      <p:sp>
        <p:nvSpPr>
          <p:cNvPr id="24" name="Text 17"/>
          <p:cNvSpPr txBox="1"/>
          <p:nvPr/>
        </p:nvSpPr>
        <p:spPr>
          <a:xfrm>
            <a:off x="4937760" y="4023360"/>
            <a:ext cx="3749040" cy="502920"/>
          </a:xfrm>
          <a:prstGeom prst="rect">
            <a:avLst/>
          </a:prstGeom>
          <a:noFill/>
          <a:ln/>
        </p:spPr>
        <p:txBody>
          <a:bodyPr wrap="square" lIns="0" tIns="0" rIns="0" bIns="0"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Los reportes del dueño quedan fuera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Objetivo y alcance</a:t>
            </a:r>
            <a:endParaRPr lang="en-US" sz="2600" dirty="0"/>
          </a:p>
        </p:txBody>
      </p:sp>
      <p:sp>
        <p:nvSpPr>
          <p:cNvPr id="3" name="Text 1"/>
          <p:cNvSpPr txBox="1"/>
          <p:nvPr/>
        </p:nvSpPr>
        <p:spPr>
          <a:xfrm>
            <a:off x="457200" y="1051560"/>
            <a:ext cx="8229600" cy="594360"/>
          </a:xfrm>
          <a:prstGeom prst="rect">
            <a:avLst/>
          </a:prstGeom>
          <a:noFill/>
          <a:ln/>
        </p:spPr>
        <p:txBody>
          <a:bodyPr wrap="square" lIns="0" tIns="0" rIns="0" bIns="0" rtlCol="0" anchor="t"/>
          <a:lstStyle/>
          <a:p>
            <a:pPr indent="0" marL="0">
              <a:buNone/>
            </a:pPr>
            <a:r>
              <a:rPr lang="en-US" sz="1500" dirty="0">
                <a:solidFill>
                  <a:srgbClr val="161616"/>
                </a:solidFill>
                <a:latin typeface="Calibri" pitchFamily="34" charset="0"/>
                <a:ea typeface="Calibri" pitchFamily="34" charset="-122"/>
                <a:cs typeface="Calibri" pitchFamily="34" charset="-120"/>
              </a:rPr>
              <a:t>Especificar, diseñar y prototipar un sistema web que siga cada trabajo desde la cotización hasta la última sesión.</a:t>
            </a:r>
            <a:endParaRPr lang="en-US" sz="1500" dirty="0"/>
          </a:p>
        </p:txBody>
      </p:sp>
      <p:sp>
        <p:nvSpPr>
          <p:cNvPr id="4" name="Shape 2"/>
          <p:cNvSpPr/>
          <p:nvPr/>
        </p:nvSpPr>
        <p:spPr>
          <a:xfrm>
            <a:off x="457200" y="1783080"/>
            <a:ext cx="3977640" cy="2788920"/>
          </a:xfrm>
          <a:prstGeom prst="roundRect">
            <a:avLst>
              <a:gd name="adj" fmla="val 3934"/>
            </a:avLst>
          </a:prstGeom>
          <a:solidFill>
            <a:srgbClr val="F3F3F3"/>
          </a:solidFill>
          <a:ln w="12700">
            <a:solidFill>
              <a:srgbClr val="F3F3F3"/>
            </a:solidFill>
            <a:prstDash val="solid"/>
          </a:ln>
        </p:spPr>
      </p:sp>
      <p:sp>
        <p:nvSpPr>
          <p:cNvPr id="5" name="Text 3"/>
          <p:cNvSpPr txBox="1"/>
          <p:nvPr/>
        </p:nvSpPr>
        <p:spPr>
          <a:xfrm>
            <a:off x="685800" y="1920240"/>
            <a:ext cx="3520440" cy="365760"/>
          </a:xfrm>
          <a:prstGeom prst="rect">
            <a:avLst/>
          </a:prstGeom>
          <a:noFill/>
          <a:ln/>
        </p:spPr>
        <p:txBody>
          <a:bodyPr wrap="square" lIns="0" tIns="0" rIns="0" bIns="0" rtlCol="0" anchor="ctr"/>
          <a:lstStyle/>
          <a:p>
            <a:pPr indent="0" marL="0">
              <a:buNone/>
            </a:pPr>
            <a:r>
              <a:rPr lang="en-US" sz="1700" b="1" dirty="0">
                <a:solidFill>
                  <a:srgbClr val="161616"/>
                </a:solidFill>
                <a:latin typeface="Cambria" pitchFamily="34" charset="0"/>
                <a:ea typeface="Cambria" pitchFamily="34" charset="-122"/>
                <a:cs typeface="Cambria" pitchFamily="34" charset="-120"/>
              </a:rPr>
              <a:t>Incluye</a:t>
            </a:r>
            <a:endParaRPr lang="en-US" sz="1700" dirty="0"/>
          </a:p>
        </p:txBody>
      </p:sp>
      <p:sp>
        <p:nvSpPr>
          <p:cNvPr id="6" name="Text 4"/>
          <p:cNvSpPr txBox="1"/>
          <p:nvPr/>
        </p:nvSpPr>
        <p:spPr>
          <a:xfrm>
            <a:off x="685800" y="2331720"/>
            <a:ext cx="3566160" cy="21031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Cotización cerrada o por sesión</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Abonos con comprobante y saldo</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Versiones de diseño y aprobación</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Disponibilidad y reserva de sesiones</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Cancelaciones según la política</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Consentimiento y cuestionario de salud</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Ficha única de cada trabajo</a:t>
            </a:r>
            <a:endParaRPr lang="en-US" sz="1300" dirty="0"/>
          </a:p>
        </p:txBody>
      </p:sp>
      <p:sp>
        <p:nvSpPr>
          <p:cNvPr id="7" name="Shape 5"/>
          <p:cNvSpPr/>
          <p:nvPr/>
        </p:nvSpPr>
        <p:spPr>
          <a:xfrm>
            <a:off x="4709160" y="1783080"/>
            <a:ext cx="3977640" cy="2788920"/>
          </a:xfrm>
          <a:prstGeom prst="roundRect">
            <a:avLst>
              <a:gd name="adj" fmla="val 3934"/>
            </a:avLst>
          </a:prstGeom>
          <a:solidFill>
            <a:srgbClr val="FFFFFF"/>
          </a:solidFill>
          <a:ln w="12700">
            <a:solidFill>
              <a:srgbClr val="D0D0D0"/>
            </a:solidFill>
            <a:prstDash val="solid"/>
          </a:ln>
        </p:spPr>
      </p:sp>
      <p:sp>
        <p:nvSpPr>
          <p:cNvPr id="8" name="Text 6"/>
          <p:cNvSpPr txBox="1"/>
          <p:nvPr/>
        </p:nvSpPr>
        <p:spPr>
          <a:xfrm>
            <a:off x="4937760" y="1920240"/>
            <a:ext cx="3520440" cy="365760"/>
          </a:xfrm>
          <a:prstGeom prst="rect">
            <a:avLst/>
          </a:prstGeom>
          <a:noFill/>
          <a:ln/>
        </p:spPr>
        <p:txBody>
          <a:bodyPr wrap="square" lIns="0" tIns="0" rIns="0" bIns="0" rtlCol="0" anchor="ctr"/>
          <a:lstStyle/>
          <a:p>
            <a:pPr indent="0" marL="0">
              <a:buNone/>
            </a:pPr>
            <a:r>
              <a:rPr lang="en-US" sz="1700" b="1" dirty="0">
                <a:solidFill>
                  <a:srgbClr val="C62828"/>
                </a:solidFill>
                <a:latin typeface="Cambria" pitchFamily="34" charset="0"/>
                <a:ea typeface="Cambria" pitchFamily="34" charset="-122"/>
                <a:cs typeface="Cambria" pitchFamily="34" charset="-120"/>
              </a:rPr>
              <a:t>Queda fuera</a:t>
            </a:r>
            <a:endParaRPr lang="en-US" sz="1700" dirty="0"/>
          </a:p>
        </p:txBody>
      </p:sp>
      <p:sp>
        <p:nvSpPr>
          <p:cNvPr id="9" name="Text 7"/>
          <p:cNvSpPr txBox="1"/>
          <p:nvPr/>
        </p:nvSpPr>
        <p:spPr>
          <a:xfrm>
            <a:off x="4937760" y="2331720"/>
            <a:ext cx="3566160" cy="21031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Pagos en línea con pasarela</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Integración con Instagram o WhatsApp</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Atención de menores de edad</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Evaluación de retoques</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Reportes para el dueño</a:t>
            </a:r>
            <a:endParaRPr lang="en-US" sz="1300" dirty="0"/>
          </a:p>
          <a:p>
            <a:pPr marL="342900" indent="-342900">
              <a:spcAft>
                <a:spcPts val="400"/>
              </a:spcAft>
              <a:buSzPct val="100000"/>
              <a:buChar char="•"/>
            </a:pPr>
            <a:r>
              <a:rPr lang="en-US" sz="1300" dirty="0">
                <a:solidFill>
                  <a:srgbClr val="161616"/>
                </a:solidFill>
                <a:latin typeface="Calibri" pitchFamily="34" charset="0"/>
                <a:ea typeface="Calibri" pitchFamily="34" charset="-122"/>
                <a:cs typeface="Calibri" pitchFamily="34" charset="-120"/>
              </a:rPr>
              <a:t>Inventario, comisiones y facturación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Cuatro actores con necesidades distintas</a:t>
            </a:r>
            <a:endParaRPr lang="en-US" sz="2600" dirty="0"/>
          </a:p>
        </p:txBody>
      </p:sp>
      <p:sp>
        <p:nvSpPr>
          <p:cNvPr id="3" name="Shape 1"/>
          <p:cNvSpPr/>
          <p:nvPr/>
        </p:nvSpPr>
        <p:spPr>
          <a:xfrm>
            <a:off x="457200" y="1188720"/>
            <a:ext cx="1920240" cy="3063240"/>
          </a:xfrm>
          <a:prstGeom prst="roundRect">
            <a:avLst>
              <a:gd name="adj" fmla="val 5714"/>
            </a:avLst>
          </a:prstGeom>
          <a:solidFill>
            <a:srgbClr val="F3F3F3"/>
          </a:solidFill>
          <a:ln w="12700">
            <a:solidFill>
              <a:srgbClr val="F3F3F3"/>
            </a:solidFill>
            <a:prstDash val="solid"/>
          </a:ln>
        </p:spPr>
      </p:sp>
      <p:sp>
        <p:nvSpPr>
          <p:cNvPr id="4" name="Shape 2"/>
          <p:cNvSpPr/>
          <p:nvPr/>
        </p:nvSpPr>
        <p:spPr>
          <a:xfrm>
            <a:off x="685800" y="1417320"/>
            <a:ext cx="640080" cy="640080"/>
          </a:xfrm>
          <a:prstGeom prst="ellipse">
            <a:avLst/>
          </a:prstGeom>
          <a:solidFill>
            <a:srgbClr val="C62828"/>
          </a:solidFill>
          <a:ln w="12700">
            <a:solidFill>
              <a:srgbClr val="C62828"/>
            </a:solidFill>
            <a:prstDash val="solid"/>
          </a:ln>
        </p:spPr>
      </p:sp>
      <p:pic>
        <p:nvPicPr>
          <p:cNvPr id="5" name="Image 0" descr="preencoded.png">    </p:cNvPr>
          <p:cNvPicPr>
            <a:picLocks noChangeAspect="1"/>
          </p:cNvPicPr>
          <p:nvPr/>
        </p:nvPicPr>
        <p:blipFill>
          <a:blip r:embed="rId1"/>
          <a:stretch>
            <a:fillRect/>
          </a:stretch>
        </p:blipFill>
        <p:spPr>
          <a:xfrm>
            <a:off x="845820" y="1577340"/>
            <a:ext cx="320040" cy="320040"/>
          </a:xfrm>
          <a:prstGeom prst="rect">
            <a:avLst/>
          </a:prstGeom>
        </p:spPr>
      </p:pic>
      <p:sp>
        <p:nvSpPr>
          <p:cNvPr id="6" name="Text 3"/>
          <p:cNvSpPr txBox="1"/>
          <p:nvPr/>
        </p:nvSpPr>
        <p:spPr>
          <a:xfrm>
            <a:off x="685800" y="2194560"/>
            <a:ext cx="1554480" cy="365760"/>
          </a:xfrm>
          <a:prstGeom prst="rect">
            <a:avLst/>
          </a:prstGeom>
          <a:noFill/>
          <a:ln/>
        </p:spPr>
        <p:txBody>
          <a:bodyPr wrap="square" lIns="0" tIns="0" rIns="0" bIns="0" rtlCol="0" anchor="ctr"/>
          <a:lstStyle/>
          <a:p>
            <a:pPr indent="0" marL="0">
              <a:buNone/>
            </a:pPr>
            <a:r>
              <a:rPr lang="en-US" sz="1700" b="1" dirty="0">
                <a:solidFill>
                  <a:srgbClr val="161616"/>
                </a:solidFill>
                <a:latin typeface="Cambria" pitchFamily="34" charset="0"/>
                <a:ea typeface="Cambria" pitchFamily="34" charset="-122"/>
                <a:cs typeface="Cambria" pitchFamily="34" charset="-120"/>
              </a:rPr>
              <a:t>Cliente</a:t>
            </a:r>
            <a:endParaRPr lang="en-US" sz="1700" dirty="0"/>
          </a:p>
        </p:txBody>
      </p:sp>
      <p:sp>
        <p:nvSpPr>
          <p:cNvPr id="7" name="Text 4"/>
          <p:cNvSpPr txBox="1"/>
          <p:nvPr/>
        </p:nvSpPr>
        <p:spPr>
          <a:xfrm>
            <a:off x="685800" y="2606040"/>
            <a:ext cx="1508760" cy="1508760"/>
          </a:xfrm>
          <a:prstGeom prst="rect">
            <a:avLst/>
          </a:prstGeom>
          <a:noFill/>
          <a:ln/>
        </p:spPr>
        <p:txBody>
          <a:bodyPr wrap="square" lIns="0" tIns="0" rIns="0" bIns="0" rtlCol="0" anchor="t"/>
          <a:lstStyle/>
          <a:p>
            <a:pPr indent="0" marL="0">
              <a:buNone/>
            </a:pPr>
            <a:r>
              <a:rPr lang="en-US" sz="1250" dirty="0">
                <a:solidFill>
                  <a:srgbClr val="161616"/>
                </a:solidFill>
                <a:latin typeface="Calibri" pitchFamily="34" charset="0"/>
                <a:ea typeface="Calibri" pitchFamily="34" charset="-122"/>
                <a:cs typeface="Calibri" pitchFamily="34" charset="-120"/>
              </a:rPr>
              <a:t>Pide la cotización, aprueba el diseño, reserva sesiones y completa el consentimiento.</a:t>
            </a:r>
            <a:endParaRPr lang="en-US" sz="1250" dirty="0"/>
          </a:p>
        </p:txBody>
      </p:sp>
      <p:sp>
        <p:nvSpPr>
          <p:cNvPr id="8" name="Shape 5"/>
          <p:cNvSpPr/>
          <p:nvPr/>
        </p:nvSpPr>
        <p:spPr>
          <a:xfrm>
            <a:off x="2560320" y="1188720"/>
            <a:ext cx="1920240" cy="3063240"/>
          </a:xfrm>
          <a:prstGeom prst="roundRect">
            <a:avLst>
              <a:gd name="adj" fmla="val 5714"/>
            </a:avLst>
          </a:prstGeom>
          <a:solidFill>
            <a:srgbClr val="F3F3F3"/>
          </a:solidFill>
          <a:ln w="12700">
            <a:solidFill>
              <a:srgbClr val="F3F3F3"/>
            </a:solidFill>
            <a:prstDash val="solid"/>
          </a:ln>
        </p:spPr>
      </p:sp>
      <p:sp>
        <p:nvSpPr>
          <p:cNvPr id="9" name="Shape 6"/>
          <p:cNvSpPr/>
          <p:nvPr/>
        </p:nvSpPr>
        <p:spPr>
          <a:xfrm>
            <a:off x="2788920" y="1417320"/>
            <a:ext cx="640080" cy="640080"/>
          </a:xfrm>
          <a:prstGeom prst="ellipse">
            <a:avLst/>
          </a:prstGeom>
          <a:solidFill>
            <a:srgbClr val="C62828"/>
          </a:solidFill>
          <a:ln w="12700">
            <a:solidFill>
              <a:srgbClr val="C62828"/>
            </a:solidFill>
            <a:prstDash val="solid"/>
          </a:ln>
        </p:spPr>
      </p:sp>
      <p:pic>
        <p:nvPicPr>
          <p:cNvPr id="10" name="Image 1" descr="preencoded.png">    </p:cNvPr>
          <p:cNvPicPr>
            <a:picLocks noChangeAspect="1"/>
          </p:cNvPicPr>
          <p:nvPr/>
        </p:nvPicPr>
        <p:blipFill>
          <a:blip r:embed="rId2"/>
          <a:stretch>
            <a:fillRect/>
          </a:stretch>
        </p:blipFill>
        <p:spPr>
          <a:xfrm>
            <a:off x="2948940" y="1577340"/>
            <a:ext cx="320040" cy="320040"/>
          </a:xfrm>
          <a:prstGeom prst="rect">
            <a:avLst/>
          </a:prstGeom>
        </p:spPr>
      </p:pic>
      <p:sp>
        <p:nvSpPr>
          <p:cNvPr id="11" name="Text 7"/>
          <p:cNvSpPr txBox="1"/>
          <p:nvPr/>
        </p:nvSpPr>
        <p:spPr>
          <a:xfrm>
            <a:off x="2788920" y="2194560"/>
            <a:ext cx="1554480" cy="365760"/>
          </a:xfrm>
          <a:prstGeom prst="rect">
            <a:avLst/>
          </a:prstGeom>
          <a:noFill/>
          <a:ln/>
        </p:spPr>
        <p:txBody>
          <a:bodyPr wrap="square" lIns="0" tIns="0" rIns="0" bIns="0" rtlCol="0" anchor="ctr"/>
          <a:lstStyle/>
          <a:p>
            <a:pPr indent="0" marL="0">
              <a:buNone/>
            </a:pPr>
            <a:r>
              <a:rPr lang="en-US" sz="1700" b="1" dirty="0">
                <a:solidFill>
                  <a:srgbClr val="161616"/>
                </a:solidFill>
                <a:latin typeface="Cambria" pitchFamily="34" charset="0"/>
                <a:ea typeface="Cambria" pitchFamily="34" charset="-122"/>
                <a:cs typeface="Cambria" pitchFamily="34" charset="-120"/>
              </a:rPr>
              <a:t>Tatuador</a:t>
            </a:r>
            <a:endParaRPr lang="en-US" sz="1700" dirty="0"/>
          </a:p>
        </p:txBody>
      </p:sp>
      <p:sp>
        <p:nvSpPr>
          <p:cNvPr id="12" name="Text 8"/>
          <p:cNvSpPr txBox="1"/>
          <p:nvPr/>
        </p:nvSpPr>
        <p:spPr>
          <a:xfrm>
            <a:off x="2788920" y="2606040"/>
            <a:ext cx="1508760" cy="1508760"/>
          </a:xfrm>
          <a:prstGeom prst="rect">
            <a:avLst/>
          </a:prstGeom>
          <a:noFill/>
          <a:ln/>
        </p:spPr>
        <p:txBody>
          <a:bodyPr wrap="square" lIns="0" tIns="0" rIns="0" bIns="0" rtlCol="0" anchor="t"/>
          <a:lstStyle/>
          <a:p>
            <a:pPr indent="0" marL="0">
              <a:buNone/>
            </a:pPr>
            <a:r>
              <a:rPr lang="en-US" sz="1250" dirty="0">
                <a:solidFill>
                  <a:srgbClr val="161616"/>
                </a:solidFill>
                <a:latin typeface="Calibri" pitchFamily="34" charset="0"/>
                <a:ea typeface="Calibri" pitchFamily="34" charset="-122"/>
                <a:cs typeface="Calibri" pitchFamily="34" charset="-120"/>
              </a:rPr>
              <a:t>Cotiza, sube versiones de diseño, define su disponibilidad y revisa sus trabajos desde el celular.</a:t>
            </a:r>
            <a:endParaRPr lang="en-US" sz="1250" dirty="0"/>
          </a:p>
        </p:txBody>
      </p:sp>
      <p:sp>
        <p:nvSpPr>
          <p:cNvPr id="13" name="Shape 9"/>
          <p:cNvSpPr/>
          <p:nvPr/>
        </p:nvSpPr>
        <p:spPr>
          <a:xfrm>
            <a:off x="4663440" y="1188720"/>
            <a:ext cx="1920240" cy="3063240"/>
          </a:xfrm>
          <a:prstGeom prst="roundRect">
            <a:avLst>
              <a:gd name="adj" fmla="val 5714"/>
            </a:avLst>
          </a:prstGeom>
          <a:solidFill>
            <a:srgbClr val="F3F3F3"/>
          </a:solidFill>
          <a:ln w="12700">
            <a:solidFill>
              <a:srgbClr val="F3F3F3"/>
            </a:solidFill>
            <a:prstDash val="solid"/>
          </a:ln>
        </p:spPr>
      </p:sp>
      <p:sp>
        <p:nvSpPr>
          <p:cNvPr id="14" name="Shape 10"/>
          <p:cNvSpPr/>
          <p:nvPr/>
        </p:nvSpPr>
        <p:spPr>
          <a:xfrm>
            <a:off x="4892040" y="1417320"/>
            <a:ext cx="640080" cy="640080"/>
          </a:xfrm>
          <a:prstGeom prst="ellipse">
            <a:avLst/>
          </a:prstGeom>
          <a:solidFill>
            <a:srgbClr val="C62828"/>
          </a:solidFill>
          <a:ln w="12700">
            <a:solidFill>
              <a:srgbClr val="C62828"/>
            </a:solidFill>
            <a:prstDash val="solid"/>
          </a:ln>
        </p:spPr>
      </p:sp>
      <p:pic>
        <p:nvPicPr>
          <p:cNvPr id="15" name="Image 2" descr="preencoded.png">    </p:cNvPr>
          <p:cNvPicPr>
            <a:picLocks noChangeAspect="1"/>
          </p:cNvPicPr>
          <p:nvPr/>
        </p:nvPicPr>
        <p:blipFill>
          <a:blip r:embed="rId3"/>
          <a:stretch>
            <a:fillRect/>
          </a:stretch>
        </p:blipFill>
        <p:spPr>
          <a:xfrm>
            <a:off x="5052060" y="1577340"/>
            <a:ext cx="320040" cy="320040"/>
          </a:xfrm>
          <a:prstGeom prst="rect">
            <a:avLst/>
          </a:prstGeom>
        </p:spPr>
      </p:pic>
      <p:sp>
        <p:nvSpPr>
          <p:cNvPr id="16" name="Text 11"/>
          <p:cNvSpPr txBox="1"/>
          <p:nvPr/>
        </p:nvSpPr>
        <p:spPr>
          <a:xfrm>
            <a:off x="4892040" y="2194560"/>
            <a:ext cx="1554480" cy="365760"/>
          </a:xfrm>
          <a:prstGeom prst="rect">
            <a:avLst/>
          </a:prstGeom>
          <a:noFill/>
          <a:ln/>
        </p:spPr>
        <p:txBody>
          <a:bodyPr wrap="square" lIns="0" tIns="0" rIns="0" bIns="0" rtlCol="0" anchor="ctr"/>
          <a:lstStyle/>
          <a:p>
            <a:pPr indent="0" marL="0">
              <a:buNone/>
            </a:pPr>
            <a:r>
              <a:rPr lang="en-US" sz="1700" b="1" dirty="0">
                <a:solidFill>
                  <a:srgbClr val="161616"/>
                </a:solidFill>
                <a:latin typeface="Cambria" pitchFamily="34" charset="0"/>
                <a:ea typeface="Cambria" pitchFamily="34" charset="-122"/>
                <a:cs typeface="Cambria" pitchFamily="34" charset="-120"/>
              </a:rPr>
              <a:t>Recepción</a:t>
            </a:r>
            <a:endParaRPr lang="en-US" sz="1700" dirty="0"/>
          </a:p>
        </p:txBody>
      </p:sp>
      <p:sp>
        <p:nvSpPr>
          <p:cNvPr id="17" name="Text 12"/>
          <p:cNvSpPr txBox="1"/>
          <p:nvPr/>
        </p:nvSpPr>
        <p:spPr>
          <a:xfrm>
            <a:off x="4892040" y="2606040"/>
            <a:ext cx="1508760" cy="1508760"/>
          </a:xfrm>
          <a:prstGeom prst="rect">
            <a:avLst/>
          </a:prstGeom>
          <a:noFill/>
          <a:ln/>
        </p:spPr>
        <p:txBody>
          <a:bodyPr wrap="square" lIns="0" tIns="0" rIns="0" bIns="0" rtlCol="0" anchor="t"/>
          <a:lstStyle/>
          <a:p>
            <a:pPr indent="0" marL="0">
              <a:buNone/>
            </a:pPr>
            <a:r>
              <a:rPr lang="en-US" sz="1250" dirty="0">
                <a:solidFill>
                  <a:srgbClr val="161616"/>
                </a:solidFill>
                <a:latin typeface="Calibri" pitchFamily="34" charset="0"/>
                <a:ea typeface="Calibri" pitchFamily="34" charset="-122"/>
                <a:cs typeface="Calibri" pitchFamily="34" charset="-120"/>
              </a:rPr>
              <a:t>Confirma abonos, coordina la agenda de todos los tatuadores y gestiona cancelaciones.</a:t>
            </a:r>
            <a:endParaRPr lang="en-US" sz="1250" dirty="0"/>
          </a:p>
        </p:txBody>
      </p:sp>
      <p:sp>
        <p:nvSpPr>
          <p:cNvPr id="18" name="Shape 13"/>
          <p:cNvSpPr/>
          <p:nvPr/>
        </p:nvSpPr>
        <p:spPr>
          <a:xfrm>
            <a:off x="6766560" y="1188720"/>
            <a:ext cx="1920240" cy="3063240"/>
          </a:xfrm>
          <a:prstGeom prst="roundRect">
            <a:avLst>
              <a:gd name="adj" fmla="val 5714"/>
            </a:avLst>
          </a:prstGeom>
          <a:solidFill>
            <a:srgbClr val="F3F3F3"/>
          </a:solidFill>
          <a:ln w="12700">
            <a:solidFill>
              <a:srgbClr val="F3F3F3"/>
            </a:solidFill>
            <a:prstDash val="solid"/>
          </a:ln>
        </p:spPr>
      </p:sp>
      <p:sp>
        <p:nvSpPr>
          <p:cNvPr id="19" name="Shape 14"/>
          <p:cNvSpPr/>
          <p:nvPr/>
        </p:nvSpPr>
        <p:spPr>
          <a:xfrm>
            <a:off x="6995160" y="1417320"/>
            <a:ext cx="640080" cy="640080"/>
          </a:xfrm>
          <a:prstGeom prst="ellipse">
            <a:avLst/>
          </a:prstGeom>
          <a:solidFill>
            <a:srgbClr val="C62828"/>
          </a:solidFill>
          <a:ln w="12700">
            <a:solidFill>
              <a:srgbClr val="C62828"/>
            </a:solidFill>
            <a:prstDash val="solid"/>
          </a:ln>
        </p:spPr>
      </p:sp>
      <p:pic>
        <p:nvPicPr>
          <p:cNvPr id="20" name="Image 3" descr="preencoded.png">    </p:cNvPr>
          <p:cNvPicPr>
            <a:picLocks noChangeAspect="1"/>
          </p:cNvPicPr>
          <p:nvPr/>
        </p:nvPicPr>
        <p:blipFill>
          <a:blip r:embed="rId4"/>
          <a:stretch>
            <a:fillRect/>
          </a:stretch>
        </p:blipFill>
        <p:spPr>
          <a:xfrm>
            <a:off x="7155180" y="1577340"/>
            <a:ext cx="320040" cy="320040"/>
          </a:xfrm>
          <a:prstGeom prst="rect">
            <a:avLst/>
          </a:prstGeom>
        </p:spPr>
      </p:pic>
      <p:sp>
        <p:nvSpPr>
          <p:cNvPr id="21" name="Text 15"/>
          <p:cNvSpPr txBox="1"/>
          <p:nvPr/>
        </p:nvSpPr>
        <p:spPr>
          <a:xfrm>
            <a:off x="6995160" y="2194560"/>
            <a:ext cx="1554480" cy="365760"/>
          </a:xfrm>
          <a:prstGeom prst="rect">
            <a:avLst/>
          </a:prstGeom>
          <a:noFill/>
          <a:ln/>
        </p:spPr>
        <p:txBody>
          <a:bodyPr wrap="square" lIns="0" tIns="0" rIns="0" bIns="0" rtlCol="0" anchor="ctr"/>
          <a:lstStyle/>
          <a:p>
            <a:pPr indent="0" marL="0">
              <a:buNone/>
            </a:pPr>
            <a:r>
              <a:rPr lang="en-US" sz="1700" b="1" dirty="0">
                <a:solidFill>
                  <a:srgbClr val="161616"/>
                </a:solidFill>
                <a:latin typeface="Cambria" pitchFamily="34" charset="0"/>
                <a:ea typeface="Cambria" pitchFamily="34" charset="-122"/>
                <a:cs typeface="Cambria" pitchFamily="34" charset="-120"/>
              </a:rPr>
              <a:t>Dueño</a:t>
            </a:r>
            <a:endParaRPr lang="en-US" sz="1700" dirty="0"/>
          </a:p>
        </p:txBody>
      </p:sp>
      <p:sp>
        <p:nvSpPr>
          <p:cNvPr id="22" name="Text 16"/>
          <p:cNvSpPr txBox="1"/>
          <p:nvPr/>
        </p:nvSpPr>
        <p:spPr>
          <a:xfrm>
            <a:off x="6995160" y="2606040"/>
            <a:ext cx="1508760" cy="1508760"/>
          </a:xfrm>
          <a:prstGeom prst="rect">
            <a:avLst/>
          </a:prstGeom>
          <a:noFill/>
          <a:ln/>
        </p:spPr>
        <p:txBody>
          <a:bodyPr wrap="square" lIns="0" tIns="0" rIns="0" bIns="0" rtlCol="0" anchor="t"/>
          <a:lstStyle/>
          <a:p>
            <a:pPr indent="0" marL="0">
              <a:buNone/>
            </a:pPr>
            <a:r>
              <a:rPr lang="en-US" sz="1250" dirty="0">
                <a:solidFill>
                  <a:srgbClr val="161616"/>
                </a:solidFill>
                <a:latin typeface="Calibri" pitchFamily="34" charset="0"/>
                <a:ea typeface="Calibri" pitchFamily="34" charset="-122"/>
                <a:cs typeface="Calibri" pitchFamily="34" charset="-120"/>
              </a:rPr>
              <a:t>Configura los tatuadores y la política de abonos y cancelación del estudio.</a:t>
            </a:r>
            <a:endParaRPr lang="en-US" sz="1250" dirty="0"/>
          </a:p>
        </p:txBody>
      </p:sp>
      <p:sp>
        <p:nvSpPr>
          <p:cNvPr id="23" name="Text 17"/>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100" i="1" dirty="0">
                <a:solidFill>
                  <a:srgbClr val="5F6368"/>
                </a:solidFill>
                <a:latin typeface="Calibri" pitchFamily="34" charset="0"/>
                <a:ea typeface="Calibri" pitchFamily="34" charset="-122"/>
                <a:cs typeface="Calibri" pitchFamily="34" charset="-120"/>
              </a:rPr>
              <a:t>Una persona puede tener más de un rol; por ejemplo, un dueño que también tatúa.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Requerimientos funcionales</a:t>
            </a:r>
            <a:endParaRPr lang="en-US" sz="2600" dirty="0"/>
          </a:p>
        </p:txBody>
      </p:sp>
      <p:sp>
        <p:nvSpPr>
          <p:cNvPr id="3" name="Text 1"/>
          <p:cNvSpPr txBox="1"/>
          <p:nvPr/>
        </p:nvSpPr>
        <p:spPr>
          <a:xfrm>
            <a:off x="457200" y="1097280"/>
            <a:ext cx="2377440" cy="914400"/>
          </a:xfrm>
          <a:prstGeom prst="rect">
            <a:avLst/>
          </a:prstGeom>
          <a:noFill/>
          <a:ln/>
        </p:spPr>
        <p:txBody>
          <a:bodyPr wrap="square" lIns="0" tIns="0" rIns="0" bIns="0" rtlCol="0" anchor="ctr"/>
          <a:lstStyle/>
          <a:p>
            <a:pPr indent="0" marL="0">
              <a:buNone/>
            </a:pPr>
            <a:r>
              <a:rPr lang="en-US" sz="6600" b="1" dirty="0">
                <a:solidFill>
                  <a:srgbClr val="161616"/>
                </a:solidFill>
                <a:latin typeface="Cambria" pitchFamily="34" charset="0"/>
                <a:ea typeface="Cambria" pitchFamily="34" charset="-122"/>
                <a:cs typeface="Cambria" pitchFamily="34" charset="-120"/>
              </a:rPr>
              <a:t>13</a:t>
            </a:r>
            <a:endParaRPr lang="en-US" sz="6600" dirty="0"/>
          </a:p>
        </p:txBody>
      </p:sp>
      <p:sp>
        <p:nvSpPr>
          <p:cNvPr id="4" name="Text 2"/>
          <p:cNvSpPr txBox="1"/>
          <p:nvPr/>
        </p:nvSpPr>
        <p:spPr>
          <a:xfrm>
            <a:off x="457200" y="2011680"/>
            <a:ext cx="2377440" cy="457200"/>
          </a:xfrm>
          <a:prstGeom prst="rect">
            <a:avLst/>
          </a:prstGeom>
          <a:noFill/>
          <a:ln/>
        </p:spPr>
        <p:txBody>
          <a:bodyPr wrap="square" lIns="0" tIns="0" rIns="0" bIns="0" rtlCol="0" anchor="t"/>
          <a:lstStyle/>
          <a:p>
            <a:pPr indent="0" marL="0">
              <a:buNone/>
            </a:pPr>
            <a:r>
              <a:rPr lang="en-US" sz="1300" dirty="0">
                <a:solidFill>
                  <a:srgbClr val="5F6368"/>
                </a:solidFill>
                <a:latin typeface="Calibri" pitchFamily="34" charset="0"/>
                <a:ea typeface="Calibri" pitchFamily="34" charset="-122"/>
                <a:cs typeface="Calibri" pitchFamily="34" charset="-120"/>
              </a:rPr>
              <a:t>requerimientos funcionales identificados</a:t>
            </a:r>
            <a:endParaRPr lang="en-US" sz="1300" dirty="0"/>
          </a:p>
        </p:txBody>
      </p:sp>
      <p:sp>
        <p:nvSpPr>
          <p:cNvPr id="5" name="Text 3"/>
          <p:cNvSpPr txBox="1"/>
          <p:nvPr/>
        </p:nvSpPr>
        <p:spPr>
          <a:xfrm>
            <a:off x="457200" y="2606040"/>
            <a:ext cx="2377440" cy="914400"/>
          </a:xfrm>
          <a:prstGeom prst="rect">
            <a:avLst/>
          </a:prstGeom>
          <a:noFill/>
          <a:ln/>
        </p:spPr>
        <p:txBody>
          <a:bodyPr wrap="square" lIns="0" tIns="0" rIns="0" bIns="0" rtlCol="0" anchor="ctr"/>
          <a:lstStyle/>
          <a:p>
            <a:pPr indent="0" marL="0">
              <a:buNone/>
            </a:pPr>
            <a:r>
              <a:rPr lang="en-US" sz="6600" b="1" dirty="0">
                <a:solidFill>
                  <a:srgbClr val="C62828"/>
                </a:solidFill>
                <a:latin typeface="Cambria" pitchFamily="34" charset="0"/>
                <a:ea typeface="Cambria" pitchFamily="34" charset="-122"/>
                <a:cs typeface="Cambria" pitchFamily="34" charset="-120"/>
              </a:rPr>
              <a:t>7</a:t>
            </a:r>
            <a:endParaRPr lang="en-US" sz="6600" dirty="0"/>
          </a:p>
        </p:txBody>
      </p:sp>
      <p:sp>
        <p:nvSpPr>
          <p:cNvPr id="6" name="Text 4"/>
          <p:cNvSpPr txBox="1"/>
          <p:nvPr/>
        </p:nvSpPr>
        <p:spPr>
          <a:xfrm>
            <a:off x="457200" y="3520440"/>
            <a:ext cx="2377440" cy="457200"/>
          </a:xfrm>
          <a:prstGeom prst="rect">
            <a:avLst/>
          </a:prstGeom>
          <a:noFill/>
          <a:ln/>
        </p:spPr>
        <p:txBody>
          <a:bodyPr wrap="square" lIns="0" tIns="0" rIns="0" bIns="0" rtlCol="0" anchor="t"/>
          <a:lstStyle/>
          <a:p>
            <a:pPr indent="0" marL="0">
              <a:buNone/>
            </a:pPr>
            <a:r>
              <a:rPr lang="en-US" sz="1300" dirty="0">
                <a:solidFill>
                  <a:srgbClr val="5F6368"/>
                </a:solidFill>
                <a:latin typeface="Calibri" pitchFamily="34" charset="0"/>
                <a:ea typeface="Calibri" pitchFamily="34" charset="-122"/>
                <a:cs typeface="Calibri" pitchFamily="34" charset="-120"/>
              </a:rPr>
              <a:t>se implementan en el prototipo del L5</a:t>
            </a:r>
            <a:endParaRPr lang="en-US" sz="1300" dirty="0"/>
          </a:p>
        </p:txBody>
      </p:sp>
      <p:sp>
        <p:nvSpPr>
          <p:cNvPr id="7" name="Shape 5"/>
          <p:cNvSpPr/>
          <p:nvPr/>
        </p:nvSpPr>
        <p:spPr>
          <a:xfrm>
            <a:off x="3200400" y="1143000"/>
            <a:ext cx="731520" cy="329184"/>
          </a:xfrm>
          <a:prstGeom prst="roundRect">
            <a:avLst>
              <a:gd name="adj" fmla="val 16667"/>
            </a:avLst>
          </a:prstGeom>
          <a:solidFill>
            <a:srgbClr val="C62828"/>
          </a:solidFill>
          <a:ln w="12700">
            <a:solidFill>
              <a:srgbClr val="C62828"/>
            </a:solidFill>
            <a:prstDash val="solid"/>
          </a:ln>
        </p:spPr>
      </p:sp>
      <p:sp>
        <p:nvSpPr>
          <p:cNvPr id="8" name="Text 6"/>
          <p:cNvSpPr txBox="1"/>
          <p:nvPr/>
        </p:nvSpPr>
        <p:spPr>
          <a:xfrm>
            <a:off x="3200400" y="1143000"/>
            <a:ext cx="7315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RF01</a:t>
            </a:r>
            <a:endParaRPr lang="en-US" sz="1200" dirty="0"/>
          </a:p>
        </p:txBody>
      </p:sp>
      <p:sp>
        <p:nvSpPr>
          <p:cNvPr id="9" name="Text 7"/>
          <p:cNvSpPr txBox="1"/>
          <p:nvPr/>
        </p:nvSpPr>
        <p:spPr>
          <a:xfrm>
            <a:off x="4069080" y="1143000"/>
            <a:ext cx="4617720" cy="329184"/>
          </a:xfrm>
          <a:prstGeom prst="rect">
            <a:avLst/>
          </a:prstGeom>
          <a:noFill/>
          <a:ln/>
        </p:spPr>
        <p:txBody>
          <a:bodyPr wrap="square" lIns="0" tIns="0" rIns="0" bIns="0" rtlCol="0" anchor="ctr"/>
          <a:lstStyle/>
          <a:p>
            <a:pPr indent="0" marL="0">
              <a:buNone/>
            </a:pPr>
            <a:r>
              <a:rPr lang="en-US" sz="1400" dirty="0">
                <a:solidFill>
                  <a:srgbClr val="161616"/>
                </a:solidFill>
                <a:latin typeface="Calibri" pitchFamily="34" charset="0"/>
                <a:ea typeface="Calibri" pitchFamily="34" charset="-122"/>
                <a:cs typeface="Calibri" pitchFamily="34" charset="-120"/>
              </a:rPr>
              <a:t>Solicitar una cotización con referencias</a:t>
            </a:r>
            <a:endParaRPr lang="en-US" sz="1400" dirty="0"/>
          </a:p>
        </p:txBody>
      </p:sp>
      <p:sp>
        <p:nvSpPr>
          <p:cNvPr id="10" name="Shape 8"/>
          <p:cNvSpPr/>
          <p:nvPr/>
        </p:nvSpPr>
        <p:spPr>
          <a:xfrm>
            <a:off x="3200400" y="1572768"/>
            <a:ext cx="731520" cy="329184"/>
          </a:xfrm>
          <a:prstGeom prst="roundRect">
            <a:avLst>
              <a:gd name="adj" fmla="val 16667"/>
            </a:avLst>
          </a:prstGeom>
          <a:solidFill>
            <a:srgbClr val="C62828"/>
          </a:solidFill>
          <a:ln w="12700">
            <a:solidFill>
              <a:srgbClr val="C62828"/>
            </a:solidFill>
            <a:prstDash val="solid"/>
          </a:ln>
        </p:spPr>
      </p:sp>
      <p:sp>
        <p:nvSpPr>
          <p:cNvPr id="11" name="Text 9"/>
          <p:cNvSpPr txBox="1"/>
          <p:nvPr/>
        </p:nvSpPr>
        <p:spPr>
          <a:xfrm>
            <a:off x="3200400" y="1572768"/>
            <a:ext cx="7315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RF02</a:t>
            </a:r>
            <a:endParaRPr lang="en-US" sz="1200" dirty="0"/>
          </a:p>
        </p:txBody>
      </p:sp>
      <p:sp>
        <p:nvSpPr>
          <p:cNvPr id="12" name="Text 10"/>
          <p:cNvSpPr txBox="1"/>
          <p:nvPr/>
        </p:nvSpPr>
        <p:spPr>
          <a:xfrm>
            <a:off x="4069080" y="1572768"/>
            <a:ext cx="4617720" cy="329184"/>
          </a:xfrm>
          <a:prstGeom prst="rect">
            <a:avLst/>
          </a:prstGeom>
          <a:noFill/>
          <a:ln/>
        </p:spPr>
        <p:txBody>
          <a:bodyPr wrap="square" lIns="0" tIns="0" rIns="0" bIns="0" rtlCol="0" anchor="ctr"/>
          <a:lstStyle/>
          <a:p>
            <a:pPr indent="0" marL="0">
              <a:buNone/>
            </a:pPr>
            <a:r>
              <a:rPr lang="en-US" sz="1400" dirty="0">
                <a:solidFill>
                  <a:srgbClr val="161616"/>
                </a:solidFill>
                <a:latin typeface="Calibri" pitchFamily="34" charset="0"/>
                <a:ea typeface="Calibri" pitchFamily="34" charset="-122"/>
                <a:cs typeface="Calibri" pitchFamily="34" charset="-120"/>
              </a:rPr>
              <a:t>Responder con precio cerrado o por sesión</a:t>
            </a:r>
            <a:endParaRPr lang="en-US" sz="1400" dirty="0"/>
          </a:p>
        </p:txBody>
      </p:sp>
      <p:sp>
        <p:nvSpPr>
          <p:cNvPr id="13" name="Shape 11"/>
          <p:cNvSpPr/>
          <p:nvPr/>
        </p:nvSpPr>
        <p:spPr>
          <a:xfrm>
            <a:off x="3200400" y="2002536"/>
            <a:ext cx="731520" cy="329184"/>
          </a:xfrm>
          <a:prstGeom prst="roundRect">
            <a:avLst>
              <a:gd name="adj" fmla="val 16667"/>
            </a:avLst>
          </a:prstGeom>
          <a:solidFill>
            <a:srgbClr val="C62828"/>
          </a:solidFill>
          <a:ln w="12700">
            <a:solidFill>
              <a:srgbClr val="C62828"/>
            </a:solidFill>
            <a:prstDash val="solid"/>
          </a:ln>
        </p:spPr>
      </p:sp>
      <p:sp>
        <p:nvSpPr>
          <p:cNvPr id="14" name="Text 12"/>
          <p:cNvSpPr txBox="1"/>
          <p:nvPr/>
        </p:nvSpPr>
        <p:spPr>
          <a:xfrm>
            <a:off x="3200400" y="2002536"/>
            <a:ext cx="7315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RF03</a:t>
            </a:r>
            <a:endParaRPr lang="en-US" sz="1200" dirty="0"/>
          </a:p>
        </p:txBody>
      </p:sp>
      <p:sp>
        <p:nvSpPr>
          <p:cNvPr id="15" name="Text 13"/>
          <p:cNvSpPr txBox="1"/>
          <p:nvPr/>
        </p:nvSpPr>
        <p:spPr>
          <a:xfrm>
            <a:off x="4069080" y="2002536"/>
            <a:ext cx="4617720" cy="329184"/>
          </a:xfrm>
          <a:prstGeom prst="rect">
            <a:avLst/>
          </a:prstGeom>
          <a:noFill/>
          <a:ln/>
        </p:spPr>
        <p:txBody>
          <a:bodyPr wrap="square" lIns="0" tIns="0" rIns="0" bIns="0" rtlCol="0" anchor="ctr"/>
          <a:lstStyle/>
          <a:p>
            <a:pPr indent="0" marL="0">
              <a:buNone/>
            </a:pPr>
            <a:r>
              <a:rPr lang="en-US" sz="1400" dirty="0">
                <a:solidFill>
                  <a:srgbClr val="161616"/>
                </a:solidFill>
                <a:latin typeface="Calibri" pitchFamily="34" charset="0"/>
                <a:ea typeface="Calibri" pitchFamily="34" charset="-122"/>
                <a:cs typeface="Calibri" pitchFamily="34" charset="-120"/>
              </a:rPr>
              <a:t>Registrar el abono y ver el saldo pendiente</a:t>
            </a:r>
            <a:endParaRPr lang="en-US" sz="1400" dirty="0"/>
          </a:p>
        </p:txBody>
      </p:sp>
      <p:sp>
        <p:nvSpPr>
          <p:cNvPr id="16" name="Shape 14"/>
          <p:cNvSpPr/>
          <p:nvPr/>
        </p:nvSpPr>
        <p:spPr>
          <a:xfrm>
            <a:off x="3200400" y="2432304"/>
            <a:ext cx="731520" cy="329184"/>
          </a:xfrm>
          <a:prstGeom prst="roundRect">
            <a:avLst>
              <a:gd name="adj" fmla="val 16667"/>
            </a:avLst>
          </a:prstGeom>
          <a:solidFill>
            <a:srgbClr val="C62828"/>
          </a:solidFill>
          <a:ln w="12700">
            <a:solidFill>
              <a:srgbClr val="C62828"/>
            </a:solidFill>
            <a:prstDash val="solid"/>
          </a:ln>
        </p:spPr>
      </p:sp>
      <p:sp>
        <p:nvSpPr>
          <p:cNvPr id="17" name="Text 15"/>
          <p:cNvSpPr txBox="1"/>
          <p:nvPr/>
        </p:nvSpPr>
        <p:spPr>
          <a:xfrm>
            <a:off x="3200400" y="2432304"/>
            <a:ext cx="7315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RF06</a:t>
            </a:r>
            <a:endParaRPr lang="en-US" sz="1200" dirty="0"/>
          </a:p>
        </p:txBody>
      </p:sp>
      <p:sp>
        <p:nvSpPr>
          <p:cNvPr id="18" name="Text 16"/>
          <p:cNvSpPr txBox="1"/>
          <p:nvPr/>
        </p:nvSpPr>
        <p:spPr>
          <a:xfrm>
            <a:off x="4069080" y="2432304"/>
            <a:ext cx="4617720" cy="329184"/>
          </a:xfrm>
          <a:prstGeom prst="rect">
            <a:avLst/>
          </a:prstGeom>
          <a:noFill/>
          <a:ln/>
        </p:spPr>
        <p:txBody>
          <a:bodyPr wrap="square" lIns="0" tIns="0" rIns="0" bIns="0" rtlCol="0" anchor="ctr"/>
          <a:lstStyle/>
          <a:p>
            <a:pPr indent="0" marL="0">
              <a:buNone/>
            </a:pPr>
            <a:r>
              <a:rPr lang="en-US" sz="1400" dirty="0">
                <a:solidFill>
                  <a:srgbClr val="161616"/>
                </a:solidFill>
                <a:latin typeface="Calibri" pitchFamily="34" charset="0"/>
                <a:ea typeface="Calibri" pitchFamily="34" charset="-122"/>
                <a:cs typeface="Calibri" pitchFamily="34" charset="-120"/>
              </a:rPr>
              <a:t>Definir disponibilidad en bloques variables</a:t>
            </a:r>
            <a:endParaRPr lang="en-US" sz="1400" dirty="0"/>
          </a:p>
        </p:txBody>
      </p:sp>
      <p:sp>
        <p:nvSpPr>
          <p:cNvPr id="19" name="Shape 17"/>
          <p:cNvSpPr/>
          <p:nvPr/>
        </p:nvSpPr>
        <p:spPr>
          <a:xfrm>
            <a:off x="3200400" y="2862072"/>
            <a:ext cx="731520" cy="329184"/>
          </a:xfrm>
          <a:prstGeom prst="roundRect">
            <a:avLst>
              <a:gd name="adj" fmla="val 16667"/>
            </a:avLst>
          </a:prstGeom>
          <a:solidFill>
            <a:srgbClr val="C62828"/>
          </a:solidFill>
          <a:ln w="12700">
            <a:solidFill>
              <a:srgbClr val="C62828"/>
            </a:solidFill>
            <a:prstDash val="solid"/>
          </a:ln>
        </p:spPr>
      </p:sp>
      <p:sp>
        <p:nvSpPr>
          <p:cNvPr id="20" name="Text 18"/>
          <p:cNvSpPr txBox="1"/>
          <p:nvPr/>
        </p:nvSpPr>
        <p:spPr>
          <a:xfrm>
            <a:off x="3200400" y="2862072"/>
            <a:ext cx="7315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RF07</a:t>
            </a:r>
            <a:endParaRPr lang="en-US" sz="1200" dirty="0"/>
          </a:p>
        </p:txBody>
      </p:sp>
      <p:sp>
        <p:nvSpPr>
          <p:cNvPr id="21" name="Text 19"/>
          <p:cNvSpPr txBox="1"/>
          <p:nvPr/>
        </p:nvSpPr>
        <p:spPr>
          <a:xfrm>
            <a:off x="4069080" y="2862072"/>
            <a:ext cx="4617720" cy="329184"/>
          </a:xfrm>
          <a:prstGeom prst="rect">
            <a:avLst/>
          </a:prstGeom>
          <a:noFill/>
          <a:ln/>
        </p:spPr>
        <p:txBody>
          <a:bodyPr wrap="square" lIns="0" tIns="0" rIns="0" bIns="0" rtlCol="0" anchor="ctr"/>
          <a:lstStyle/>
          <a:p>
            <a:pPr indent="0" marL="0">
              <a:buNone/>
            </a:pPr>
            <a:r>
              <a:rPr lang="en-US" sz="1400" dirty="0">
                <a:solidFill>
                  <a:srgbClr val="161616"/>
                </a:solidFill>
                <a:latin typeface="Calibri" pitchFamily="34" charset="0"/>
                <a:ea typeface="Calibri" pitchFamily="34" charset="-122"/>
                <a:cs typeface="Calibri" pitchFamily="34" charset="-120"/>
              </a:rPr>
              <a:t>Reservar sesión solo con abono registrado</a:t>
            </a:r>
            <a:endParaRPr lang="en-US" sz="1400" dirty="0"/>
          </a:p>
        </p:txBody>
      </p:sp>
      <p:sp>
        <p:nvSpPr>
          <p:cNvPr id="22" name="Shape 20"/>
          <p:cNvSpPr/>
          <p:nvPr/>
        </p:nvSpPr>
        <p:spPr>
          <a:xfrm>
            <a:off x="3200400" y="3291840"/>
            <a:ext cx="731520" cy="329184"/>
          </a:xfrm>
          <a:prstGeom prst="roundRect">
            <a:avLst>
              <a:gd name="adj" fmla="val 16667"/>
            </a:avLst>
          </a:prstGeom>
          <a:solidFill>
            <a:srgbClr val="C62828"/>
          </a:solidFill>
          <a:ln w="12700">
            <a:solidFill>
              <a:srgbClr val="C62828"/>
            </a:solidFill>
            <a:prstDash val="solid"/>
          </a:ln>
        </p:spPr>
      </p:sp>
      <p:sp>
        <p:nvSpPr>
          <p:cNvPr id="23" name="Text 21"/>
          <p:cNvSpPr txBox="1"/>
          <p:nvPr/>
        </p:nvSpPr>
        <p:spPr>
          <a:xfrm>
            <a:off x="3200400" y="3291840"/>
            <a:ext cx="7315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RF08</a:t>
            </a:r>
            <a:endParaRPr lang="en-US" sz="1200" dirty="0"/>
          </a:p>
        </p:txBody>
      </p:sp>
      <p:sp>
        <p:nvSpPr>
          <p:cNvPr id="24" name="Text 22"/>
          <p:cNvSpPr txBox="1"/>
          <p:nvPr/>
        </p:nvSpPr>
        <p:spPr>
          <a:xfrm>
            <a:off x="4069080" y="3291840"/>
            <a:ext cx="4617720" cy="329184"/>
          </a:xfrm>
          <a:prstGeom prst="rect">
            <a:avLst/>
          </a:prstGeom>
          <a:noFill/>
          <a:ln/>
        </p:spPr>
        <p:txBody>
          <a:bodyPr wrap="square" lIns="0" tIns="0" rIns="0" bIns="0" rtlCol="0" anchor="ctr"/>
          <a:lstStyle/>
          <a:p>
            <a:pPr indent="0" marL="0">
              <a:buNone/>
            </a:pPr>
            <a:r>
              <a:rPr lang="en-US" sz="1400" dirty="0">
                <a:solidFill>
                  <a:srgbClr val="161616"/>
                </a:solidFill>
                <a:latin typeface="Calibri" pitchFamily="34" charset="0"/>
                <a:ea typeface="Calibri" pitchFamily="34" charset="-122"/>
                <a:cs typeface="Calibri" pitchFamily="34" charset="-120"/>
              </a:rPr>
              <a:t>Cancelar o reagendar según la política</a:t>
            </a:r>
            <a:endParaRPr lang="en-US" sz="1400" dirty="0"/>
          </a:p>
        </p:txBody>
      </p:sp>
      <p:sp>
        <p:nvSpPr>
          <p:cNvPr id="25" name="Shape 23"/>
          <p:cNvSpPr/>
          <p:nvPr/>
        </p:nvSpPr>
        <p:spPr>
          <a:xfrm>
            <a:off x="3200400" y="3721608"/>
            <a:ext cx="731520" cy="329184"/>
          </a:xfrm>
          <a:prstGeom prst="roundRect">
            <a:avLst>
              <a:gd name="adj" fmla="val 16667"/>
            </a:avLst>
          </a:prstGeom>
          <a:solidFill>
            <a:srgbClr val="C62828"/>
          </a:solidFill>
          <a:ln w="12700">
            <a:solidFill>
              <a:srgbClr val="C62828"/>
            </a:solidFill>
            <a:prstDash val="solid"/>
          </a:ln>
        </p:spPr>
      </p:sp>
      <p:sp>
        <p:nvSpPr>
          <p:cNvPr id="26" name="Text 24"/>
          <p:cNvSpPr txBox="1"/>
          <p:nvPr/>
        </p:nvSpPr>
        <p:spPr>
          <a:xfrm>
            <a:off x="3200400" y="3721608"/>
            <a:ext cx="7315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RF13</a:t>
            </a:r>
            <a:endParaRPr lang="en-US" sz="1200" dirty="0"/>
          </a:p>
        </p:txBody>
      </p:sp>
      <p:sp>
        <p:nvSpPr>
          <p:cNvPr id="27" name="Text 25"/>
          <p:cNvSpPr txBox="1"/>
          <p:nvPr/>
        </p:nvSpPr>
        <p:spPr>
          <a:xfrm>
            <a:off x="4069080" y="3721608"/>
            <a:ext cx="4617720" cy="329184"/>
          </a:xfrm>
          <a:prstGeom prst="rect">
            <a:avLst/>
          </a:prstGeom>
          <a:noFill/>
          <a:ln/>
        </p:spPr>
        <p:txBody>
          <a:bodyPr wrap="square" lIns="0" tIns="0" rIns="0" bIns="0" rtlCol="0" anchor="ctr"/>
          <a:lstStyle/>
          <a:p>
            <a:pPr indent="0" marL="0">
              <a:buNone/>
            </a:pPr>
            <a:r>
              <a:rPr lang="en-US" sz="1400" dirty="0">
                <a:solidFill>
                  <a:srgbClr val="161616"/>
                </a:solidFill>
                <a:latin typeface="Calibri" pitchFamily="34" charset="0"/>
                <a:ea typeface="Calibri" pitchFamily="34" charset="-122"/>
                <a:cs typeface="Calibri" pitchFamily="34" charset="-120"/>
              </a:rPr>
              <a:t>Ver la ficha completa de cada trabajo</a:t>
            </a:r>
            <a:endParaRPr lang="en-US" sz="1400" dirty="0"/>
          </a:p>
        </p:txBody>
      </p:sp>
      <p:sp>
        <p:nvSpPr>
          <p:cNvPr id="28" name="Text 26"/>
          <p:cNvSpPr txBox="1"/>
          <p:nvPr/>
        </p:nvSpPr>
        <p:spPr>
          <a:xfrm>
            <a:off x="3200400" y="4206240"/>
            <a:ext cx="5486400" cy="457200"/>
          </a:xfrm>
          <a:prstGeom prst="rect">
            <a:avLst/>
          </a:prstGeom>
          <a:noFill/>
          <a:ln/>
        </p:spPr>
        <p:txBody>
          <a:bodyPr wrap="square" lIns="0" tIns="0" rIns="0" bIns="0" rtlCol="0" anchor="t"/>
          <a:lstStyle/>
          <a:p>
            <a:pPr indent="0" marL="0">
              <a:buNone/>
            </a:pPr>
            <a:r>
              <a:rPr lang="en-US" sz="1100" dirty="0">
                <a:solidFill>
                  <a:srgbClr val="5F6368"/>
                </a:solidFill>
                <a:latin typeface="Calibri" pitchFamily="34" charset="0"/>
                <a:ea typeface="Calibri" pitchFamily="34" charset="-122"/>
                <a:cs typeface="Calibri" pitchFamily="34" charset="-120"/>
              </a:rPr>
              <a:t>Los otros 6 (diseño, consentimiento, registro de sesiones, agenda consolidada y políticas) se especifican y modelan, pero no se implementan.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Requerimientos no funcionales del dominio</a:t>
            </a:r>
            <a:endParaRPr lang="en-US" sz="2600" dirty="0"/>
          </a:p>
        </p:txBody>
      </p:sp>
      <p:sp>
        <p:nvSpPr>
          <p:cNvPr id="3" name="Shape 1"/>
          <p:cNvSpPr/>
          <p:nvPr/>
        </p:nvSpPr>
        <p:spPr>
          <a:xfrm>
            <a:off x="457200" y="1143000"/>
            <a:ext cx="3977640" cy="1463040"/>
          </a:xfrm>
          <a:prstGeom prst="roundRect">
            <a:avLst>
              <a:gd name="adj" fmla="val 7500"/>
            </a:avLst>
          </a:prstGeom>
          <a:solidFill>
            <a:srgbClr val="F3F3F3"/>
          </a:solidFill>
          <a:ln w="12700">
            <a:solidFill>
              <a:srgbClr val="F3F3F3"/>
            </a:solidFill>
            <a:prstDash val="solid"/>
          </a:ln>
        </p:spPr>
      </p:sp>
      <p:sp>
        <p:nvSpPr>
          <p:cNvPr id="4" name="Shape 2"/>
          <p:cNvSpPr/>
          <p:nvPr/>
        </p:nvSpPr>
        <p:spPr>
          <a:xfrm>
            <a:off x="685800" y="1371600"/>
            <a:ext cx="502920" cy="502920"/>
          </a:xfrm>
          <a:prstGeom prst="ellipse">
            <a:avLst/>
          </a:prstGeom>
          <a:solidFill>
            <a:srgbClr val="C62828"/>
          </a:solidFill>
          <a:ln w="12700">
            <a:solidFill>
              <a:srgbClr val="C62828"/>
            </a:solidFill>
            <a:prstDash val="solid"/>
          </a:ln>
        </p:spPr>
      </p:sp>
      <p:pic>
        <p:nvPicPr>
          <p:cNvPr id="5" name="Image 0" descr="preencoded.png">    </p:cNvPr>
          <p:cNvPicPr>
            <a:picLocks noChangeAspect="1"/>
          </p:cNvPicPr>
          <p:nvPr/>
        </p:nvPicPr>
        <p:blipFill>
          <a:blip r:embed="rId1"/>
          <a:stretch>
            <a:fillRect/>
          </a:stretch>
        </p:blipFill>
        <p:spPr>
          <a:xfrm>
            <a:off x="811530" y="1497330"/>
            <a:ext cx="251460" cy="251460"/>
          </a:xfrm>
          <a:prstGeom prst="rect">
            <a:avLst/>
          </a:prstGeom>
        </p:spPr>
      </p:pic>
      <p:sp>
        <p:nvSpPr>
          <p:cNvPr id="6" name="Text 3"/>
          <p:cNvSpPr txBox="1"/>
          <p:nvPr/>
        </p:nvSpPr>
        <p:spPr>
          <a:xfrm>
            <a:off x="1325880" y="1371600"/>
            <a:ext cx="2926080" cy="365760"/>
          </a:xfrm>
          <a:prstGeom prst="rect">
            <a:avLst/>
          </a:prstGeom>
          <a:noFill/>
          <a:ln/>
        </p:spPr>
        <p:txBody>
          <a:bodyPr wrap="square" lIns="0" tIns="0" rIns="0" bIns="0" rtlCol="0" anchor="ctr"/>
          <a:lstStyle/>
          <a:p>
            <a:pPr indent="0" marL="0">
              <a:buNone/>
            </a:pPr>
            <a:r>
              <a:rPr lang="en-US" sz="1600" b="1" dirty="0">
                <a:solidFill>
                  <a:srgbClr val="161616"/>
                </a:solidFill>
                <a:latin typeface="Cambria" pitchFamily="34" charset="0"/>
                <a:ea typeface="Cambria" pitchFamily="34" charset="-122"/>
                <a:cs typeface="Cambria" pitchFamily="34" charset="-120"/>
              </a:rPr>
              <a:t>Privacidad</a:t>
            </a:r>
            <a:endParaRPr lang="en-US" sz="1600" dirty="0"/>
          </a:p>
        </p:txBody>
      </p:sp>
      <p:sp>
        <p:nvSpPr>
          <p:cNvPr id="7" name="Text 4"/>
          <p:cNvSpPr txBox="1"/>
          <p:nvPr/>
        </p:nvSpPr>
        <p:spPr>
          <a:xfrm>
            <a:off x="1325880" y="1764792"/>
            <a:ext cx="2926080" cy="749808"/>
          </a:xfrm>
          <a:prstGeom prst="rect">
            <a:avLst/>
          </a:prstGeom>
          <a:noFill/>
          <a:ln/>
        </p:spPr>
        <p:txBody>
          <a:bodyPr wrap="square" lIns="0" tIns="0" rIns="0" bIns="0" rtlCol="0" anchor="t"/>
          <a:lstStyle/>
          <a:p>
            <a:pPr indent="0" marL="0">
              <a:buNone/>
            </a:pPr>
            <a:r>
              <a:rPr lang="en-US" sz="1250" dirty="0">
                <a:solidFill>
                  <a:srgbClr val="161616"/>
                </a:solidFill>
                <a:latin typeface="Calibri" pitchFamily="34" charset="0"/>
                <a:ea typeface="Calibri" pitchFamily="34" charset="-122"/>
                <a:cs typeface="Calibri" pitchFamily="34" charset="-120"/>
              </a:rPr>
              <a:t>El cuestionario de salud solo lo ven el tatuador asignado y el dueño; cada acceso queda registrado.</a:t>
            </a:r>
            <a:endParaRPr lang="en-US" sz="1250" dirty="0"/>
          </a:p>
        </p:txBody>
      </p:sp>
      <p:sp>
        <p:nvSpPr>
          <p:cNvPr id="8" name="Shape 5"/>
          <p:cNvSpPr/>
          <p:nvPr/>
        </p:nvSpPr>
        <p:spPr>
          <a:xfrm>
            <a:off x="4709160" y="1143000"/>
            <a:ext cx="3977640" cy="1463040"/>
          </a:xfrm>
          <a:prstGeom prst="roundRect">
            <a:avLst>
              <a:gd name="adj" fmla="val 7500"/>
            </a:avLst>
          </a:prstGeom>
          <a:solidFill>
            <a:srgbClr val="F3F3F3"/>
          </a:solidFill>
          <a:ln w="12700">
            <a:solidFill>
              <a:srgbClr val="F3F3F3"/>
            </a:solidFill>
            <a:prstDash val="solid"/>
          </a:ln>
        </p:spPr>
      </p:sp>
      <p:sp>
        <p:nvSpPr>
          <p:cNvPr id="9" name="Shape 6"/>
          <p:cNvSpPr/>
          <p:nvPr/>
        </p:nvSpPr>
        <p:spPr>
          <a:xfrm>
            <a:off x="4937760" y="1371600"/>
            <a:ext cx="502920" cy="502920"/>
          </a:xfrm>
          <a:prstGeom prst="ellipse">
            <a:avLst/>
          </a:prstGeom>
          <a:solidFill>
            <a:srgbClr val="C62828"/>
          </a:solidFill>
          <a:ln w="12700">
            <a:solidFill>
              <a:srgbClr val="C62828"/>
            </a:solidFill>
            <a:prstDash val="solid"/>
          </a:ln>
        </p:spPr>
      </p:sp>
      <p:pic>
        <p:nvPicPr>
          <p:cNvPr id="10" name="Image 1" descr="preencoded.png">    </p:cNvPr>
          <p:cNvPicPr>
            <a:picLocks noChangeAspect="1"/>
          </p:cNvPicPr>
          <p:nvPr/>
        </p:nvPicPr>
        <p:blipFill>
          <a:blip r:embed="rId2"/>
          <a:stretch>
            <a:fillRect/>
          </a:stretch>
        </p:blipFill>
        <p:spPr>
          <a:xfrm>
            <a:off x="5063490" y="1497330"/>
            <a:ext cx="251460" cy="251460"/>
          </a:xfrm>
          <a:prstGeom prst="rect">
            <a:avLst/>
          </a:prstGeom>
        </p:spPr>
      </p:pic>
      <p:sp>
        <p:nvSpPr>
          <p:cNvPr id="11" name="Text 7"/>
          <p:cNvSpPr txBox="1"/>
          <p:nvPr/>
        </p:nvSpPr>
        <p:spPr>
          <a:xfrm>
            <a:off x="5577840" y="1371600"/>
            <a:ext cx="2926080" cy="365760"/>
          </a:xfrm>
          <a:prstGeom prst="rect">
            <a:avLst/>
          </a:prstGeom>
          <a:noFill/>
          <a:ln/>
        </p:spPr>
        <p:txBody>
          <a:bodyPr wrap="square" lIns="0" tIns="0" rIns="0" bIns="0" rtlCol="0" anchor="ctr"/>
          <a:lstStyle/>
          <a:p>
            <a:pPr indent="0" marL="0">
              <a:buNone/>
            </a:pPr>
            <a:r>
              <a:rPr lang="en-US" sz="1600" b="1" dirty="0">
                <a:solidFill>
                  <a:srgbClr val="161616"/>
                </a:solidFill>
                <a:latin typeface="Cambria" pitchFamily="34" charset="0"/>
                <a:ea typeface="Cambria" pitchFamily="34" charset="-122"/>
                <a:cs typeface="Cambria" pitchFamily="34" charset="-120"/>
              </a:rPr>
              <a:t>Consistencia</a:t>
            </a:r>
            <a:endParaRPr lang="en-US" sz="1600" dirty="0"/>
          </a:p>
        </p:txBody>
      </p:sp>
      <p:sp>
        <p:nvSpPr>
          <p:cNvPr id="12" name="Text 8"/>
          <p:cNvSpPr txBox="1"/>
          <p:nvPr/>
        </p:nvSpPr>
        <p:spPr>
          <a:xfrm>
            <a:off x="5577840" y="1764792"/>
            <a:ext cx="2926080" cy="749808"/>
          </a:xfrm>
          <a:prstGeom prst="rect">
            <a:avLst/>
          </a:prstGeom>
          <a:noFill/>
          <a:ln/>
        </p:spPr>
        <p:txBody>
          <a:bodyPr wrap="square" lIns="0" tIns="0" rIns="0" bIns="0" rtlCol="0" anchor="t"/>
          <a:lstStyle/>
          <a:p>
            <a:pPr indent="0" marL="0">
              <a:buNone/>
            </a:pPr>
            <a:r>
              <a:rPr lang="en-US" sz="1250" dirty="0">
                <a:solidFill>
                  <a:srgbClr val="161616"/>
                </a:solidFill>
                <a:latin typeface="Calibri" pitchFamily="34" charset="0"/>
                <a:ea typeface="Calibri" pitchFamily="34" charset="-122"/>
                <a:cs typeface="Calibri" pitchFamily="34" charset="-120"/>
              </a:rPr>
              <a:t>Si dos personas reservan el mismo bloque a la vez, solo una reserva se confirma.</a:t>
            </a:r>
            <a:endParaRPr lang="en-US" sz="1250" dirty="0"/>
          </a:p>
        </p:txBody>
      </p:sp>
      <p:sp>
        <p:nvSpPr>
          <p:cNvPr id="13" name="Shape 9"/>
          <p:cNvSpPr/>
          <p:nvPr/>
        </p:nvSpPr>
        <p:spPr>
          <a:xfrm>
            <a:off x="457200" y="2743200"/>
            <a:ext cx="3977640" cy="1463040"/>
          </a:xfrm>
          <a:prstGeom prst="roundRect">
            <a:avLst>
              <a:gd name="adj" fmla="val 7500"/>
            </a:avLst>
          </a:prstGeom>
          <a:solidFill>
            <a:srgbClr val="F3F3F3"/>
          </a:solidFill>
          <a:ln w="12700">
            <a:solidFill>
              <a:srgbClr val="F3F3F3"/>
            </a:solidFill>
            <a:prstDash val="solid"/>
          </a:ln>
        </p:spPr>
      </p:sp>
      <p:sp>
        <p:nvSpPr>
          <p:cNvPr id="14" name="Shape 10"/>
          <p:cNvSpPr/>
          <p:nvPr/>
        </p:nvSpPr>
        <p:spPr>
          <a:xfrm>
            <a:off x="685800" y="2971800"/>
            <a:ext cx="502920" cy="502920"/>
          </a:xfrm>
          <a:prstGeom prst="ellipse">
            <a:avLst/>
          </a:prstGeom>
          <a:solidFill>
            <a:srgbClr val="C62828"/>
          </a:solidFill>
          <a:ln w="12700">
            <a:solidFill>
              <a:srgbClr val="C62828"/>
            </a:solidFill>
            <a:prstDash val="solid"/>
          </a:ln>
        </p:spPr>
      </p:sp>
      <p:pic>
        <p:nvPicPr>
          <p:cNvPr id="15" name="Image 2" descr="preencoded.png">    </p:cNvPr>
          <p:cNvPicPr>
            <a:picLocks noChangeAspect="1"/>
          </p:cNvPicPr>
          <p:nvPr/>
        </p:nvPicPr>
        <p:blipFill>
          <a:blip r:embed="rId3"/>
          <a:stretch>
            <a:fillRect/>
          </a:stretch>
        </p:blipFill>
        <p:spPr>
          <a:xfrm>
            <a:off x="811530" y="3097530"/>
            <a:ext cx="251460" cy="251460"/>
          </a:xfrm>
          <a:prstGeom prst="rect">
            <a:avLst/>
          </a:prstGeom>
        </p:spPr>
      </p:pic>
      <p:sp>
        <p:nvSpPr>
          <p:cNvPr id="16" name="Text 11"/>
          <p:cNvSpPr txBox="1"/>
          <p:nvPr/>
        </p:nvSpPr>
        <p:spPr>
          <a:xfrm>
            <a:off x="1325880" y="2971800"/>
            <a:ext cx="2926080" cy="365760"/>
          </a:xfrm>
          <a:prstGeom prst="rect">
            <a:avLst/>
          </a:prstGeom>
          <a:noFill/>
          <a:ln/>
        </p:spPr>
        <p:txBody>
          <a:bodyPr wrap="square" lIns="0" tIns="0" rIns="0" bIns="0" rtlCol="0" anchor="ctr"/>
          <a:lstStyle/>
          <a:p>
            <a:pPr indent="0" marL="0">
              <a:buNone/>
            </a:pPr>
            <a:r>
              <a:rPr lang="en-US" sz="1600" b="1" dirty="0">
                <a:solidFill>
                  <a:srgbClr val="161616"/>
                </a:solidFill>
                <a:latin typeface="Cambria" pitchFamily="34" charset="0"/>
                <a:ea typeface="Cambria" pitchFamily="34" charset="-122"/>
                <a:cs typeface="Cambria" pitchFamily="34" charset="-120"/>
              </a:rPr>
              <a:t>Usabilidad</a:t>
            </a:r>
            <a:endParaRPr lang="en-US" sz="1600" dirty="0"/>
          </a:p>
        </p:txBody>
      </p:sp>
      <p:sp>
        <p:nvSpPr>
          <p:cNvPr id="17" name="Text 12"/>
          <p:cNvSpPr txBox="1"/>
          <p:nvPr/>
        </p:nvSpPr>
        <p:spPr>
          <a:xfrm>
            <a:off x="1325880" y="3364992"/>
            <a:ext cx="2926080" cy="749808"/>
          </a:xfrm>
          <a:prstGeom prst="rect">
            <a:avLst/>
          </a:prstGeom>
          <a:noFill/>
          <a:ln/>
        </p:spPr>
        <p:txBody>
          <a:bodyPr wrap="square" lIns="0" tIns="0" rIns="0" bIns="0" rtlCol="0" anchor="t"/>
          <a:lstStyle/>
          <a:p>
            <a:pPr indent="0" marL="0">
              <a:buNone/>
            </a:pPr>
            <a:r>
              <a:rPr lang="en-US" sz="1250" dirty="0">
                <a:solidFill>
                  <a:srgbClr val="161616"/>
                </a:solidFill>
                <a:latin typeface="Calibri" pitchFamily="34" charset="0"/>
                <a:ea typeface="Calibri" pitchFamily="34" charset="-122"/>
                <a:cs typeface="Calibri" pitchFamily="34" charset="-120"/>
              </a:rPr>
              <a:t>Uso desde el celular; registrar un abono o una sesión toma como máximo tres pasos.</a:t>
            </a:r>
            <a:endParaRPr lang="en-US" sz="1250" dirty="0"/>
          </a:p>
        </p:txBody>
      </p:sp>
      <p:sp>
        <p:nvSpPr>
          <p:cNvPr id="18" name="Shape 13"/>
          <p:cNvSpPr/>
          <p:nvPr/>
        </p:nvSpPr>
        <p:spPr>
          <a:xfrm>
            <a:off x="4709160" y="2743200"/>
            <a:ext cx="3977640" cy="1463040"/>
          </a:xfrm>
          <a:prstGeom prst="roundRect">
            <a:avLst>
              <a:gd name="adj" fmla="val 7500"/>
            </a:avLst>
          </a:prstGeom>
          <a:solidFill>
            <a:srgbClr val="F3F3F3"/>
          </a:solidFill>
          <a:ln w="12700">
            <a:solidFill>
              <a:srgbClr val="F3F3F3"/>
            </a:solidFill>
            <a:prstDash val="solid"/>
          </a:ln>
        </p:spPr>
      </p:sp>
      <p:sp>
        <p:nvSpPr>
          <p:cNvPr id="19" name="Shape 14"/>
          <p:cNvSpPr/>
          <p:nvPr/>
        </p:nvSpPr>
        <p:spPr>
          <a:xfrm>
            <a:off x="4937760" y="2971800"/>
            <a:ext cx="502920" cy="502920"/>
          </a:xfrm>
          <a:prstGeom prst="ellipse">
            <a:avLst/>
          </a:prstGeom>
          <a:solidFill>
            <a:srgbClr val="C62828"/>
          </a:solidFill>
          <a:ln w="12700">
            <a:solidFill>
              <a:srgbClr val="C62828"/>
            </a:solidFill>
            <a:prstDash val="solid"/>
          </a:ln>
        </p:spPr>
      </p:sp>
      <p:pic>
        <p:nvPicPr>
          <p:cNvPr id="20" name="Image 3" descr="preencoded.png">    </p:cNvPr>
          <p:cNvPicPr>
            <a:picLocks noChangeAspect="1"/>
          </p:cNvPicPr>
          <p:nvPr/>
        </p:nvPicPr>
        <p:blipFill>
          <a:blip r:embed="rId4"/>
          <a:stretch>
            <a:fillRect/>
          </a:stretch>
        </p:blipFill>
        <p:spPr>
          <a:xfrm>
            <a:off x="5063490" y="3097530"/>
            <a:ext cx="251460" cy="251460"/>
          </a:xfrm>
          <a:prstGeom prst="rect">
            <a:avLst/>
          </a:prstGeom>
        </p:spPr>
      </p:pic>
      <p:sp>
        <p:nvSpPr>
          <p:cNvPr id="21" name="Text 15"/>
          <p:cNvSpPr txBox="1"/>
          <p:nvPr/>
        </p:nvSpPr>
        <p:spPr>
          <a:xfrm>
            <a:off x="5577840" y="2971800"/>
            <a:ext cx="2926080" cy="365760"/>
          </a:xfrm>
          <a:prstGeom prst="rect">
            <a:avLst/>
          </a:prstGeom>
          <a:noFill/>
          <a:ln/>
        </p:spPr>
        <p:txBody>
          <a:bodyPr wrap="square" lIns="0" tIns="0" rIns="0" bIns="0" rtlCol="0" anchor="ctr"/>
          <a:lstStyle/>
          <a:p>
            <a:pPr indent="0" marL="0">
              <a:buNone/>
            </a:pPr>
            <a:r>
              <a:rPr lang="en-US" sz="1600" b="1" dirty="0">
                <a:solidFill>
                  <a:srgbClr val="161616"/>
                </a:solidFill>
                <a:latin typeface="Cambria" pitchFamily="34" charset="0"/>
                <a:ea typeface="Cambria" pitchFamily="34" charset="-122"/>
                <a:cs typeface="Cambria" pitchFamily="34" charset="-120"/>
              </a:rPr>
              <a:t>Seguridad</a:t>
            </a:r>
            <a:endParaRPr lang="en-US" sz="1600" dirty="0"/>
          </a:p>
        </p:txBody>
      </p:sp>
      <p:sp>
        <p:nvSpPr>
          <p:cNvPr id="22" name="Text 16"/>
          <p:cNvSpPr txBox="1"/>
          <p:nvPr/>
        </p:nvSpPr>
        <p:spPr>
          <a:xfrm>
            <a:off x="5577840" y="3364992"/>
            <a:ext cx="2926080" cy="749808"/>
          </a:xfrm>
          <a:prstGeom prst="rect">
            <a:avLst/>
          </a:prstGeom>
          <a:noFill/>
          <a:ln/>
        </p:spPr>
        <p:txBody>
          <a:bodyPr wrap="square" lIns="0" tIns="0" rIns="0" bIns="0" rtlCol="0" anchor="t"/>
          <a:lstStyle/>
          <a:p>
            <a:pPr indent="0" marL="0">
              <a:buNone/>
            </a:pPr>
            <a:r>
              <a:rPr lang="en-US" sz="1250" dirty="0">
                <a:solidFill>
                  <a:srgbClr val="161616"/>
                </a:solidFill>
                <a:latin typeface="Calibri" pitchFamily="34" charset="0"/>
                <a:ea typeface="Calibri" pitchFamily="34" charset="-122"/>
                <a:cs typeface="Calibri" pitchFamily="34" charset="-120"/>
              </a:rPr>
              <a:t>Credenciales propias y acceso solo a las funciones de cada rol.</a:t>
            </a:r>
            <a:endParaRPr lang="en-US" sz="1250" dirty="0"/>
          </a:p>
        </p:txBody>
      </p:sp>
      <p:sp>
        <p:nvSpPr>
          <p:cNvPr id="23" name="Text 17"/>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100" i="1" dirty="0">
                <a:solidFill>
                  <a:srgbClr val="5F6368"/>
                </a:solidFill>
                <a:latin typeface="Calibri" pitchFamily="34" charset="0"/>
                <a:ea typeface="Calibri" pitchFamily="34" charset="-122"/>
                <a:cs typeface="Calibri" pitchFamily="34" charset="-120"/>
              </a:rPr>
              <a:t>Los datos de salud son sensibles según la Ley 21.719, cuya vigencia está prevista para el 1 de diciembre de 2026.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El tema cumple el checklist de viabilidad</a:t>
            </a:r>
            <a:endParaRPr lang="en-US" sz="2600" dirty="0"/>
          </a:p>
        </p:txBody>
      </p:sp>
      <p:sp>
        <p:nvSpPr>
          <p:cNvPr id="3" name="Shape 1"/>
          <p:cNvSpPr/>
          <p:nvPr/>
        </p:nvSpPr>
        <p:spPr>
          <a:xfrm>
            <a:off x="457200" y="1188720"/>
            <a:ext cx="384048" cy="384048"/>
          </a:xfrm>
          <a:prstGeom prst="ellipse">
            <a:avLst/>
          </a:prstGeom>
          <a:solidFill>
            <a:srgbClr val="C62828"/>
          </a:solidFill>
          <a:ln w="12700">
            <a:solidFill>
              <a:srgbClr val="C62828"/>
            </a:solidFill>
            <a:prstDash val="solid"/>
          </a:ln>
        </p:spPr>
      </p:sp>
      <p:pic>
        <p:nvPicPr>
          <p:cNvPr id="4" name="Image 0" descr="preencoded.png">    </p:cNvPr>
          <p:cNvPicPr>
            <a:picLocks noChangeAspect="1"/>
          </p:cNvPicPr>
          <p:nvPr/>
        </p:nvPicPr>
        <p:blipFill>
          <a:blip r:embed="rId1"/>
          <a:stretch>
            <a:fillRect/>
          </a:stretch>
        </p:blipFill>
        <p:spPr>
          <a:xfrm>
            <a:off x="553212" y="1284732"/>
            <a:ext cx="192024" cy="192024"/>
          </a:xfrm>
          <a:prstGeom prst="rect">
            <a:avLst/>
          </a:prstGeom>
        </p:spPr>
      </p:pic>
      <p:sp>
        <p:nvSpPr>
          <p:cNvPr id="5" name="Text 2"/>
          <p:cNvSpPr txBox="1"/>
          <p:nvPr/>
        </p:nvSpPr>
        <p:spPr>
          <a:xfrm>
            <a:off x="1051560" y="1188720"/>
            <a:ext cx="2697480" cy="384048"/>
          </a:xfrm>
          <a:prstGeom prst="rect">
            <a:avLst/>
          </a:prstGeom>
          <a:noFill/>
          <a:ln/>
        </p:spPr>
        <p:txBody>
          <a:bodyPr wrap="square" lIns="0" tIns="0" rIns="0" bIns="0" rtlCol="0" anchor="ctr"/>
          <a:lstStyle/>
          <a:p>
            <a:pPr indent="0" marL="0">
              <a:buNone/>
            </a:pPr>
            <a:r>
              <a:rPr lang="en-US" sz="1400" b="1" dirty="0">
                <a:solidFill>
                  <a:srgbClr val="161616"/>
                </a:solidFill>
                <a:latin typeface="Calibri" pitchFamily="34" charset="0"/>
                <a:ea typeface="Calibri" pitchFamily="34" charset="-122"/>
                <a:cs typeface="Calibri" pitchFamily="34" charset="-120"/>
              </a:rPr>
              <a:t>Dominio comprensible</a:t>
            </a:r>
            <a:endParaRPr lang="en-US" sz="1400" dirty="0"/>
          </a:p>
        </p:txBody>
      </p:sp>
      <p:sp>
        <p:nvSpPr>
          <p:cNvPr id="6" name="Text 3"/>
          <p:cNvSpPr txBox="1"/>
          <p:nvPr/>
        </p:nvSpPr>
        <p:spPr>
          <a:xfrm>
            <a:off x="3840480" y="1188720"/>
            <a:ext cx="4846320" cy="384048"/>
          </a:xfrm>
          <a:prstGeom prst="rect">
            <a:avLst/>
          </a:prstGeom>
          <a:noFill/>
          <a:ln/>
        </p:spPr>
        <p:txBody>
          <a:bodyPr wrap="square" lIns="0" tIns="0" rIns="0" bIns="0" rtlCol="0" anchor="ctr"/>
          <a:lstStyle/>
          <a:p>
            <a:pPr indent="0" marL="0">
              <a:buNone/>
            </a:pPr>
            <a:r>
              <a:rPr lang="en-US" sz="1300" dirty="0">
                <a:solidFill>
                  <a:srgbClr val="5F6368"/>
                </a:solidFill>
                <a:latin typeface="Calibri" pitchFamily="34" charset="0"/>
                <a:ea typeface="Calibri" pitchFamily="34" charset="-122"/>
                <a:cs typeface="Calibri" pitchFamily="34" charset="-120"/>
              </a:rPr>
              <a:t>Confirmado en la entrevista con un tatuador</a:t>
            </a:r>
            <a:endParaRPr lang="en-US" sz="1300" dirty="0"/>
          </a:p>
        </p:txBody>
      </p:sp>
      <p:sp>
        <p:nvSpPr>
          <p:cNvPr id="7" name="Shape 4"/>
          <p:cNvSpPr/>
          <p:nvPr/>
        </p:nvSpPr>
        <p:spPr>
          <a:xfrm>
            <a:off x="457200" y="1737360"/>
            <a:ext cx="384048" cy="384048"/>
          </a:xfrm>
          <a:prstGeom prst="ellipse">
            <a:avLst/>
          </a:prstGeom>
          <a:solidFill>
            <a:srgbClr val="C62828"/>
          </a:solidFill>
          <a:ln w="12700">
            <a:solidFill>
              <a:srgbClr val="C62828"/>
            </a:solidFill>
            <a:prstDash val="solid"/>
          </a:ln>
        </p:spPr>
      </p:sp>
      <p:pic>
        <p:nvPicPr>
          <p:cNvPr id="8" name="Image 1" descr="preencoded.png">    </p:cNvPr>
          <p:cNvPicPr>
            <a:picLocks noChangeAspect="1"/>
          </p:cNvPicPr>
          <p:nvPr/>
        </p:nvPicPr>
        <p:blipFill>
          <a:blip r:embed="rId2"/>
          <a:stretch>
            <a:fillRect/>
          </a:stretch>
        </p:blipFill>
        <p:spPr>
          <a:xfrm>
            <a:off x="553212" y="1833372"/>
            <a:ext cx="192024" cy="192024"/>
          </a:xfrm>
          <a:prstGeom prst="rect">
            <a:avLst/>
          </a:prstGeom>
        </p:spPr>
      </p:pic>
      <p:sp>
        <p:nvSpPr>
          <p:cNvPr id="9" name="Text 5"/>
          <p:cNvSpPr txBox="1"/>
          <p:nvPr/>
        </p:nvSpPr>
        <p:spPr>
          <a:xfrm>
            <a:off x="1051560" y="1737360"/>
            <a:ext cx="2697480" cy="384048"/>
          </a:xfrm>
          <a:prstGeom prst="rect">
            <a:avLst/>
          </a:prstGeom>
          <a:noFill/>
          <a:ln/>
        </p:spPr>
        <p:txBody>
          <a:bodyPr wrap="square" lIns="0" tIns="0" rIns="0" bIns="0" rtlCol="0" anchor="ctr"/>
          <a:lstStyle/>
          <a:p>
            <a:pPr indent="0" marL="0">
              <a:buNone/>
            </a:pPr>
            <a:r>
              <a:rPr lang="en-US" sz="1400" b="1" dirty="0">
                <a:solidFill>
                  <a:srgbClr val="161616"/>
                </a:solidFill>
                <a:latin typeface="Calibri" pitchFamily="34" charset="0"/>
                <a:ea typeface="Calibri" pitchFamily="34" charset="-122"/>
                <a:cs typeface="Calibri" pitchFamily="34" charset="-120"/>
              </a:rPr>
              <a:t>Entre 2 y 4 actores</a:t>
            </a:r>
            <a:endParaRPr lang="en-US" sz="1400" dirty="0"/>
          </a:p>
        </p:txBody>
      </p:sp>
      <p:sp>
        <p:nvSpPr>
          <p:cNvPr id="10" name="Text 6"/>
          <p:cNvSpPr txBox="1"/>
          <p:nvPr/>
        </p:nvSpPr>
        <p:spPr>
          <a:xfrm>
            <a:off x="3840480" y="1737360"/>
            <a:ext cx="4846320" cy="384048"/>
          </a:xfrm>
          <a:prstGeom prst="rect">
            <a:avLst/>
          </a:prstGeom>
          <a:noFill/>
          <a:ln/>
        </p:spPr>
        <p:txBody>
          <a:bodyPr wrap="square" lIns="0" tIns="0" rIns="0" bIns="0" rtlCol="0" anchor="ctr"/>
          <a:lstStyle/>
          <a:p>
            <a:pPr indent="0" marL="0">
              <a:buNone/>
            </a:pPr>
            <a:r>
              <a:rPr lang="en-US" sz="1300" dirty="0">
                <a:solidFill>
                  <a:srgbClr val="5F6368"/>
                </a:solidFill>
                <a:latin typeface="Calibri" pitchFamily="34" charset="0"/>
                <a:ea typeface="Calibri" pitchFamily="34" charset="-122"/>
                <a:cs typeface="Calibri" pitchFamily="34" charset="-120"/>
              </a:rPr>
              <a:t>Cliente, tatuador, recepción y dueño</a:t>
            </a:r>
            <a:endParaRPr lang="en-US" sz="1300" dirty="0"/>
          </a:p>
        </p:txBody>
      </p:sp>
      <p:sp>
        <p:nvSpPr>
          <p:cNvPr id="11" name="Shape 7"/>
          <p:cNvSpPr/>
          <p:nvPr/>
        </p:nvSpPr>
        <p:spPr>
          <a:xfrm>
            <a:off x="457200" y="2286000"/>
            <a:ext cx="384048" cy="384048"/>
          </a:xfrm>
          <a:prstGeom prst="ellipse">
            <a:avLst/>
          </a:prstGeom>
          <a:solidFill>
            <a:srgbClr val="C62828"/>
          </a:solidFill>
          <a:ln w="12700">
            <a:solidFill>
              <a:srgbClr val="C62828"/>
            </a:solidFill>
            <a:prstDash val="solid"/>
          </a:ln>
        </p:spPr>
      </p:sp>
      <p:pic>
        <p:nvPicPr>
          <p:cNvPr id="12" name="Image 2" descr="preencoded.png">    </p:cNvPr>
          <p:cNvPicPr>
            <a:picLocks noChangeAspect="1"/>
          </p:cNvPicPr>
          <p:nvPr/>
        </p:nvPicPr>
        <p:blipFill>
          <a:blip r:embed="rId3"/>
          <a:stretch>
            <a:fillRect/>
          </a:stretch>
        </p:blipFill>
        <p:spPr>
          <a:xfrm>
            <a:off x="553212" y="2382012"/>
            <a:ext cx="192024" cy="192024"/>
          </a:xfrm>
          <a:prstGeom prst="rect">
            <a:avLst/>
          </a:prstGeom>
        </p:spPr>
      </p:pic>
      <p:sp>
        <p:nvSpPr>
          <p:cNvPr id="13" name="Text 8"/>
          <p:cNvSpPr txBox="1"/>
          <p:nvPr/>
        </p:nvSpPr>
        <p:spPr>
          <a:xfrm>
            <a:off x="1051560" y="2286000"/>
            <a:ext cx="2697480" cy="384048"/>
          </a:xfrm>
          <a:prstGeom prst="rect">
            <a:avLst/>
          </a:prstGeom>
          <a:noFill/>
          <a:ln/>
        </p:spPr>
        <p:txBody>
          <a:bodyPr wrap="square" lIns="0" tIns="0" rIns="0" bIns="0" rtlCol="0" anchor="ctr"/>
          <a:lstStyle/>
          <a:p>
            <a:pPr indent="0" marL="0">
              <a:buNone/>
            </a:pPr>
            <a:r>
              <a:rPr lang="en-US" sz="1400" b="1" dirty="0">
                <a:solidFill>
                  <a:srgbClr val="161616"/>
                </a:solidFill>
                <a:latin typeface="Calibri" pitchFamily="34" charset="0"/>
                <a:ea typeface="Calibri" pitchFamily="34" charset="-122"/>
                <a:cs typeface="Calibri" pitchFamily="34" charset="-120"/>
              </a:rPr>
              <a:t>Entre 8 y 15 RF</a:t>
            </a:r>
            <a:endParaRPr lang="en-US" sz="1400" dirty="0"/>
          </a:p>
        </p:txBody>
      </p:sp>
      <p:sp>
        <p:nvSpPr>
          <p:cNvPr id="14" name="Text 9"/>
          <p:cNvSpPr txBox="1"/>
          <p:nvPr/>
        </p:nvSpPr>
        <p:spPr>
          <a:xfrm>
            <a:off x="3840480" y="2286000"/>
            <a:ext cx="4846320" cy="384048"/>
          </a:xfrm>
          <a:prstGeom prst="rect">
            <a:avLst/>
          </a:prstGeom>
          <a:noFill/>
          <a:ln/>
        </p:spPr>
        <p:txBody>
          <a:bodyPr wrap="square" lIns="0" tIns="0" rIns="0" bIns="0" rtlCol="0" anchor="ctr"/>
          <a:lstStyle/>
          <a:p>
            <a:pPr indent="0" marL="0">
              <a:buNone/>
            </a:pPr>
            <a:r>
              <a:rPr lang="en-US" sz="1300" dirty="0">
                <a:solidFill>
                  <a:srgbClr val="5F6368"/>
                </a:solidFill>
                <a:latin typeface="Calibri" pitchFamily="34" charset="0"/>
                <a:ea typeface="Calibri" pitchFamily="34" charset="-122"/>
                <a:cs typeface="Calibri" pitchFamily="34" charset="-120"/>
              </a:rPr>
              <a:t>13 requerimientos funcionales</a:t>
            </a:r>
            <a:endParaRPr lang="en-US" sz="1300" dirty="0"/>
          </a:p>
        </p:txBody>
      </p:sp>
      <p:sp>
        <p:nvSpPr>
          <p:cNvPr id="15" name="Shape 10"/>
          <p:cNvSpPr/>
          <p:nvPr/>
        </p:nvSpPr>
        <p:spPr>
          <a:xfrm>
            <a:off x="457200" y="2834640"/>
            <a:ext cx="384048" cy="384048"/>
          </a:xfrm>
          <a:prstGeom prst="ellipse">
            <a:avLst/>
          </a:prstGeom>
          <a:solidFill>
            <a:srgbClr val="C62828"/>
          </a:solidFill>
          <a:ln w="12700">
            <a:solidFill>
              <a:srgbClr val="C62828"/>
            </a:solidFill>
            <a:prstDash val="solid"/>
          </a:ln>
        </p:spPr>
      </p:sp>
      <p:pic>
        <p:nvPicPr>
          <p:cNvPr id="16" name="Image 3" descr="preencoded.png">    </p:cNvPr>
          <p:cNvPicPr>
            <a:picLocks noChangeAspect="1"/>
          </p:cNvPicPr>
          <p:nvPr/>
        </p:nvPicPr>
        <p:blipFill>
          <a:blip r:embed="rId4"/>
          <a:stretch>
            <a:fillRect/>
          </a:stretch>
        </p:blipFill>
        <p:spPr>
          <a:xfrm>
            <a:off x="553212" y="2930652"/>
            <a:ext cx="192024" cy="192024"/>
          </a:xfrm>
          <a:prstGeom prst="rect">
            <a:avLst/>
          </a:prstGeom>
        </p:spPr>
      </p:pic>
      <p:sp>
        <p:nvSpPr>
          <p:cNvPr id="17" name="Text 11"/>
          <p:cNvSpPr txBox="1"/>
          <p:nvPr/>
        </p:nvSpPr>
        <p:spPr>
          <a:xfrm>
            <a:off x="1051560" y="2834640"/>
            <a:ext cx="2697480" cy="384048"/>
          </a:xfrm>
          <a:prstGeom prst="rect">
            <a:avLst/>
          </a:prstGeom>
          <a:noFill/>
          <a:ln/>
        </p:spPr>
        <p:txBody>
          <a:bodyPr wrap="square" lIns="0" tIns="0" rIns="0" bIns="0" rtlCol="0" anchor="ctr"/>
          <a:lstStyle/>
          <a:p>
            <a:pPr indent="0" marL="0">
              <a:buNone/>
            </a:pPr>
            <a:r>
              <a:rPr lang="en-US" sz="1400" b="1" dirty="0">
                <a:solidFill>
                  <a:srgbClr val="161616"/>
                </a:solidFill>
                <a:latin typeface="Calibri" pitchFamily="34" charset="0"/>
                <a:ea typeface="Calibri" pitchFamily="34" charset="-122"/>
                <a:cs typeface="Calibri" pitchFamily="34" charset="-120"/>
              </a:rPr>
              <a:t>Al menos 3 RNF</a:t>
            </a:r>
            <a:endParaRPr lang="en-US" sz="1400" dirty="0"/>
          </a:p>
        </p:txBody>
      </p:sp>
      <p:sp>
        <p:nvSpPr>
          <p:cNvPr id="18" name="Text 12"/>
          <p:cNvSpPr txBox="1"/>
          <p:nvPr/>
        </p:nvSpPr>
        <p:spPr>
          <a:xfrm>
            <a:off x="3840480" y="2834640"/>
            <a:ext cx="4846320" cy="384048"/>
          </a:xfrm>
          <a:prstGeom prst="rect">
            <a:avLst/>
          </a:prstGeom>
          <a:noFill/>
          <a:ln/>
        </p:spPr>
        <p:txBody>
          <a:bodyPr wrap="square" lIns="0" tIns="0" rIns="0" bIns="0" rtlCol="0" anchor="ctr"/>
          <a:lstStyle/>
          <a:p>
            <a:pPr indent="0" marL="0">
              <a:buNone/>
            </a:pPr>
            <a:r>
              <a:rPr lang="en-US" sz="1300" dirty="0">
                <a:solidFill>
                  <a:srgbClr val="5F6368"/>
                </a:solidFill>
                <a:latin typeface="Calibri" pitchFamily="34" charset="0"/>
                <a:ea typeface="Calibri" pitchFamily="34" charset="-122"/>
                <a:cs typeface="Calibri" pitchFamily="34" charset="-120"/>
              </a:rPr>
              <a:t>4, de los cuales 3 derivan del dominio</a:t>
            </a:r>
            <a:endParaRPr lang="en-US" sz="1300" dirty="0"/>
          </a:p>
        </p:txBody>
      </p:sp>
      <p:sp>
        <p:nvSpPr>
          <p:cNvPr id="19" name="Shape 13"/>
          <p:cNvSpPr/>
          <p:nvPr/>
        </p:nvSpPr>
        <p:spPr>
          <a:xfrm>
            <a:off x="457200" y="3383280"/>
            <a:ext cx="384048" cy="384048"/>
          </a:xfrm>
          <a:prstGeom prst="ellipse">
            <a:avLst/>
          </a:prstGeom>
          <a:solidFill>
            <a:srgbClr val="C62828"/>
          </a:solidFill>
          <a:ln w="12700">
            <a:solidFill>
              <a:srgbClr val="C62828"/>
            </a:solidFill>
            <a:prstDash val="solid"/>
          </a:ln>
        </p:spPr>
      </p:sp>
      <p:pic>
        <p:nvPicPr>
          <p:cNvPr id="20" name="Image 4" descr="preencoded.png">    </p:cNvPr>
          <p:cNvPicPr>
            <a:picLocks noChangeAspect="1"/>
          </p:cNvPicPr>
          <p:nvPr/>
        </p:nvPicPr>
        <p:blipFill>
          <a:blip r:embed="rId5"/>
          <a:stretch>
            <a:fillRect/>
          </a:stretch>
        </p:blipFill>
        <p:spPr>
          <a:xfrm>
            <a:off x="553212" y="3479292"/>
            <a:ext cx="192024" cy="192024"/>
          </a:xfrm>
          <a:prstGeom prst="rect">
            <a:avLst/>
          </a:prstGeom>
        </p:spPr>
      </p:pic>
      <p:sp>
        <p:nvSpPr>
          <p:cNvPr id="21" name="Text 14"/>
          <p:cNvSpPr txBox="1"/>
          <p:nvPr/>
        </p:nvSpPr>
        <p:spPr>
          <a:xfrm>
            <a:off x="1051560" y="3383280"/>
            <a:ext cx="2697480" cy="384048"/>
          </a:xfrm>
          <a:prstGeom prst="rect">
            <a:avLst/>
          </a:prstGeom>
          <a:noFill/>
          <a:ln/>
        </p:spPr>
        <p:txBody>
          <a:bodyPr wrap="square" lIns="0" tIns="0" rIns="0" bIns="0" rtlCol="0" anchor="ctr"/>
          <a:lstStyle/>
          <a:p>
            <a:pPr indent="0" marL="0">
              <a:buNone/>
            </a:pPr>
            <a:r>
              <a:rPr lang="en-US" sz="1400" b="1" dirty="0">
                <a:solidFill>
                  <a:srgbClr val="161616"/>
                </a:solidFill>
                <a:latin typeface="Calibri" pitchFamily="34" charset="0"/>
                <a:ea typeface="Calibri" pitchFamily="34" charset="-122"/>
                <a:cs typeface="Calibri" pitchFamily="34" charset="-120"/>
              </a:rPr>
              <a:t>Entre 5 y 8 clases</a:t>
            </a:r>
            <a:endParaRPr lang="en-US" sz="1400" dirty="0"/>
          </a:p>
        </p:txBody>
      </p:sp>
      <p:sp>
        <p:nvSpPr>
          <p:cNvPr id="22" name="Text 15"/>
          <p:cNvSpPr txBox="1"/>
          <p:nvPr/>
        </p:nvSpPr>
        <p:spPr>
          <a:xfrm>
            <a:off x="3840480" y="3383280"/>
            <a:ext cx="4846320" cy="384048"/>
          </a:xfrm>
          <a:prstGeom prst="rect">
            <a:avLst/>
          </a:prstGeom>
          <a:noFill/>
          <a:ln/>
        </p:spPr>
        <p:txBody>
          <a:bodyPr wrap="square" lIns="0" tIns="0" rIns="0" bIns="0" rtlCol="0" anchor="ctr"/>
          <a:lstStyle/>
          <a:p>
            <a:pPr indent="0" marL="0">
              <a:buNone/>
            </a:pPr>
            <a:r>
              <a:rPr lang="en-US" sz="1300" dirty="0">
                <a:solidFill>
                  <a:srgbClr val="5F6368"/>
                </a:solidFill>
                <a:latin typeface="Calibri" pitchFamily="34" charset="0"/>
                <a:ea typeface="Calibri" pitchFamily="34" charset="-122"/>
                <a:cs typeface="Calibri" pitchFamily="34" charset="-120"/>
              </a:rPr>
              <a:t>Cliente, Tatuador, Trabajo, Abono, Sesión y otras</a:t>
            </a:r>
            <a:endParaRPr lang="en-US" sz="1300" dirty="0"/>
          </a:p>
        </p:txBody>
      </p:sp>
      <p:sp>
        <p:nvSpPr>
          <p:cNvPr id="23" name="Shape 16"/>
          <p:cNvSpPr/>
          <p:nvPr/>
        </p:nvSpPr>
        <p:spPr>
          <a:xfrm>
            <a:off x="457200" y="3931920"/>
            <a:ext cx="384048" cy="384048"/>
          </a:xfrm>
          <a:prstGeom prst="ellipse">
            <a:avLst/>
          </a:prstGeom>
          <a:solidFill>
            <a:srgbClr val="C62828"/>
          </a:solidFill>
          <a:ln w="12700">
            <a:solidFill>
              <a:srgbClr val="C62828"/>
            </a:solidFill>
            <a:prstDash val="solid"/>
          </a:ln>
        </p:spPr>
      </p:sp>
      <p:pic>
        <p:nvPicPr>
          <p:cNvPr id="24" name="Image 5" descr="preencoded.png">    </p:cNvPr>
          <p:cNvPicPr>
            <a:picLocks noChangeAspect="1"/>
          </p:cNvPicPr>
          <p:nvPr/>
        </p:nvPicPr>
        <p:blipFill>
          <a:blip r:embed="rId6"/>
          <a:stretch>
            <a:fillRect/>
          </a:stretch>
        </p:blipFill>
        <p:spPr>
          <a:xfrm>
            <a:off x="553212" y="4027932"/>
            <a:ext cx="192024" cy="192024"/>
          </a:xfrm>
          <a:prstGeom prst="rect">
            <a:avLst/>
          </a:prstGeom>
        </p:spPr>
      </p:pic>
      <p:sp>
        <p:nvSpPr>
          <p:cNvPr id="25" name="Text 17"/>
          <p:cNvSpPr txBox="1"/>
          <p:nvPr/>
        </p:nvSpPr>
        <p:spPr>
          <a:xfrm>
            <a:off x="1051560" y="3931920"/>
            <a:ext cx="2697480" cy="384048"/>
          </a:xfrm>
          <a:prstGeom prst="rect">
            <a:avLst/>
          </a:prstGeom>
          <a:noFill/>
          <a:ln/>
        </p:spPr>
        <p:txBody>
          <a:bodyPr wrap="square" lIns="0" tIns="0" rIns="0" bIns="0" rtlCol="0" anchor="ctr"/>
          <a:lstStyle/>
          <a:p>
            <a:pPr indent="0" marL="0">
              <a:buNone/>
            </a:pPr>
            <a:r>
              <a:rPr lang="en-US" sz="1400" b="1" dirty="0">
                <a:solidFill>
                  <a:srgbClr val="161616"/>
                </a:solidFill>
                <a:latin typeface="Calibri" pitchFamily="34" charset="0"/>
                <a:ea typeface="Calibri" pitchFamily="34" charset="-122"/>
                <a:cs typeface="Calibri" pitchFamily="34" charset="-120"/>
              </a:rPr>
              <a:t>Implementable en parte</a:t>
            </a:r>
            <a:endParaRPr lang="en-US" sz="1400" dirty="0"/>
          </a:p>
        </p:txBody>
      </p:sp>
      <p:sp>
        <p:nvSpPr>
          <p:cNvPr id="26" name="Text 18"/>
          <p:cNvSpPr txBox="1"/>
          <p:nvPr/>
        </p:nvSpPr>
        <p:spPr>
          <a:xfrm>
            <a:off x="3840480" y="3931920"/>
            <a:ext cx="4846320" cy="384048"/>
          </a:xfrm>
          <a:prstGeom prst="rect">
            <a:avLst/>
          </a:prstGeom>
          <a:noFill/>
          <a:ln/>
        </p:spPr>
        <p:txBody>
          <a:bodyPr wrap="square" lIns="0" tIns="0" rIns="0" bIns="0" rtlCol="0" anchor="ctr"/>
          <a:lstStyle/>
          <a:p>
            <a:pPr indent="0" marL="0">
              <a:buNone/>
            </a:pPr>
            <a:r>
              <a:rPr lang="en-US" sz="1300" dirty="0">
                <a:solidFill>
                  <a:srgbClr val="5F6368"/>
                </a:solidFill>
                <a:latin typeface="Calibri" pitchFamily="34" charset="0"/>
                <a:ea typeface="Calibri" pitchFamily="34" charset="-122"/>
                <a:cs typeface="Calibri" pitchFamily="34" charset="-120"/>
              </a:rPr>
              <a:t>Prototipo: cotización, abono, reserva y ficha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Tecnología elegida</a:t>
            </a:r>
            <a:endParaRPr lang="en-US" sz="2600" dirty="0"/>
          </a:p>
        </p:txBody>
      </p:sp>
      <p:sp>
        <p:nvSpPr>
          <p:cNvPr id="3" name="Shape 1"/>
          <p:cNvSpPr/>
          <p:nvPr/>
        </p:nvSpPr>
        <p:spPr>
          <a:xfrm>
            <a:off x="457200" y="1188720"/>
            <a:ext cx="1920240" cy="2606040"/>
          </a:xfrm>
          <a:prstGeom prst="roundRect">
            <a:avLst>
              <a:gd name="adj" fmla="val 5714"/>
            </a:avLst>
          </a:prstGeom>
          <a:solidFill>
            <a:srgbClr val="F3F3F3"/>
          </a:solidFill>
          <a:ln w="12700">
            <a:solidFill>
              <a:srgbClr val="F3F3F3"/>
            </a:solidFill>
            <a:prstDash val="solid"/>
          </a:ln>
        </p:spPr>
      </p:sp>
      <p:sp>
        <p:nvSpPr>
          <p:cNvPr id="4" name="Shape 2"/>
          <p:cNvSpPr/>
          <p:nvPr/>
        </p:nvSpPr>
        <p:spPr>
          <a:xfrm>
            <a:off x="685800" y="1417320"/>
            <a:ext cx="640080" cy="640080"/>
          </a:xfrm>
          <a:prstGeom prst="ellipse">
            <a:avLst/>
          </a:prstGeom>
          <a:solidFill>
            <a:srgbClr val="C62828"/>
          </a:solidFill>
          <a:ln w="12700">
            <a:solidFill>
              <a:srgbClr val="C62828"/>
            </a:solidFill>
            <a:prstDash val="solid"/>
          </a:ln>
        </p:spPr>
      </p:sp>
      <p:pic>
        <p:nvPicPr>
          <p:cNvPr id="5" name="Image 0" descr="preencoded.png">    </p:cNvPr>
          <p:cNvPicPr>
            <a:picLocks noChangeAspect="1"/>
          </p:cNvPicPr>
          <p:nvPr/>
        </p:nvPicPr>
        <p:blipFill>
          <a:blip r:embed="rId1"/>
          <a:stretch>
            <a:fillRect/>
          </a:stretch>
        </p:blipFill>
        <p:spPr>
          <a:xfrm>
            <a:off x="845820" y="1577340"/>
            <a:ext cx="320040" cy="320040"/>
          </a:xfrm>
          <a:prstGeom prst="rect">
            <a:avLst/>
          </a:prstGeom>
        </p:spPr>
      </p:pic>
      <p:sp>
        <p:nvSpPr>
          <p:cNvPr id="6" name="Text 3"/>
          <p:cNvSpPr txBox="1"/>
          <p:nvPr/>
        </p:nvSpPr>
        <p:spPr>
          <a:xfrm>
            <a:off x="685800" y="2194560"/>
            <a:ext cx="1554480" cy="548640"/>
          </a:xfrm>
          <a:prstGeom prst="rect">
            <a:avLst/>
          </a:prstGeom>
          <a:noFill/>
          <a:ln/>
        </p:spPr>
        <p:txBody>
          <a:bodyPr wrap="square" lIns="0" tIns="0" rIns="0" bIns="0" rtlCol="0" anchor="t"/>
          <a:lstStyle/>
          <a:p>
            <a:pPr indent="0" marL="0">
              <a:buNone/>
            </a:pPr>
            <a:r>
              <a:rPr lang="en-US" sz="1500" b="1" dirty="0">
                <a:solidFill>
                  <a:srgbClr val="161616"/>
                </a:solidFill>
                <a:latin typeface="Cambria" pitchFamily="34" charset="0"/>
                <a:ea typeface="Cambria" pitchFamily="34" charset="-122"/>
                <a:cs typeface="Cambria" pitchFamily="34" charset="-120"/>
              </a:rPr>
              <a:t>Java 17</a:t>
            </a:r>
            <a:endParaRPr lang="en-US" sz="1500" dirty="0"/>
          </a:p>
        </p:txBody>
      </p:sp>
      <p:sp>
        <p:nvSpPr>
          <p:cNvPr id="7" name="Text 4"/>
          <p:cNvSpPr txBox="1"/>
          <p:nvPr/>
        </p:nvSpPr>
        <p:spPr>
          <a:xfrm>
            <a:off x="685800" y="2788920"/>
            <a:ext cx="1508760" cy="914400"/>
          </a:xfrm>
          <a:prstGeom prst="rect">
            <a:avLst/>
          </a:prstGeom>
          <a:noFill/>
          <a:ln/>
        </p:spPr>
        <p:txBody>
          <a:bodyPr wrap="square" lIns="0" tIns="0" rIns="0" bIns="0" rtlCol="0" anchor="t"/>
          <a:lstStyle/>
          <a:p>
            <a:pPr indent="0" marL="0">
              <a:buNone/>
            </a:pPr>
            <a:r>
              <a:rPr lang="en-US" sz="1200" dirty="0">
                <a:solidFill>
                  <a:srgbClr val="161616"/>
                </a:solidFill>
                <a:latin typeface="Calibri" pitchFamily="34" charset="0"/>
                <a:ea typeface="Calibri" pitchFamily="34" charset="-122"/>
                <a:cs typeface="Calibri" pitchFamily="34" charset="-120"/>
              </a:rPr>
              <a:t>El diseño orientado a objetos del L3 y L4 se traduce directo a clases.</a:t>
            </a:r>
            <a:endParaRPr lang="en-US" sz="1200" dirty="0"/>
          </a:p>
        </p:txBody>
      </p:sp>
      <p:sp>
        <p:nvSpPr>
          <p:cNvPr id="8" name="Shape 5"/>
          <p:cNvSpPr/>
          <p:nvPr/>
        </p:nvSpPr>
        <p:spPr>
          <a:xfrm>
            <a:off x="2560320" y="1188720"/>
            <a:ext cx="1920240" cy="2606040"/>
          </a:xfrm>
          <a:prstGeom prst="roundRect">
            <a:avLst>
              <a:gd name="adj" fmla="val 5714"/>
            </a:avLst>
          </a:prstGeom>
          <a:solidFill>
            <a:srgbClr val="F3F3F3"/>
          </a:solidFill>
          <a:ln w="12700">
            <a:solidFill>
              <a:srgbClr val="F3F3F3"/>
            </a:solidFill>
            <a:prstDash val="solid"/>
          </a:ln>
        </p:spPr>
      </p:sp>
      <p:sp>
        <p:nvSpPr>
          <p:cNvPr id="9" name="Shape 6"/>
          <p:cNvSpPr/>
          <p:nvPr/>
        </p:nvSpPr>
        <p:spPr>
          <a:xfrm>
            <a:off x="2788920" y="1417320"/>
            <a:ext cx="640080" cy="640080"/>
          </a:xfrm>
          <a:prstGeom prst="ellipse">
            <a:avLst/>
          </a:prstGeom>
          <a:solidFill>
            <a:srgbClr val="C62828"/>
          </a:solidFill>
          <a:ln w="12700">
            <a:solidFill>
              <a:srgbClr val="C62828"/>
            </a:solidFill>
            <a:prstDash val="solid"/>
          </a:ln>
        </p:spPr>
      </p:sp>
      <p:pic>
        <p:nvPicPr>
          <p:cNvPr id="10" name="Image 1" descr="preencoded.png">    </p:cNvPr>
          <p:cNvPicPr>
            <a:picLocks noChangeAspect="1"/>
          </p:cNvPicPr>
          <p:nvPr/>
        </p:nvPicPr>
        <p:blipFill>
          <a:blip r:embed="rId2"/>
          <a:stretch>
            <a:fillRect/>
          </a:stretch>
        </p:blipFill>
        <p:spPr>
          <a:xfrm>
            <a:off x="2948940" y="1577340"/>
            <a:ext cx="320040" cy="320040"/>
          </a:xfrm>
          <a:prstGeom prst="rect">
            <a:avLst/>
          </a:prstGeom>
        </p:spPr>
      </p:pic>
      <p:sp>
        <p:nvSpPr>
          <p:cNvPr id="11" name="Text 7"/>
          <p:cNvSpPr txBox="1"/>
          <p:nvPr/>
        </p:nvSpPr>
        <p:spPr>
          <a:xfrm>
            <a:off x="2788920" y="2194560"/>
            <a:ext cx="1554480" cy="548640"/>
          </a:xfrm>
          <a:prstGeom prst="rect">
            <a:avLst/>
          </a:prstGeom>
          <a:noFill/>
          <a:ln/>
        </p:spPr>
        <p:txBody>
          <a:bodyPr wrap="square" lIns="0" tIns="0" rIns="0" bIns="0" rtlCol="0" anchor="t"/>
          <a:lstStyle/>
          <a:p>
            <a:pPr indent="0" marL="0">
              <a:buNone/>
            </a:pPr>
            <a:r>
              <a:rPr lang="en-US" sz="1500" b="1" dirty="0">
                <a:solidFill>
                  <a:srgbClr val="161616"/>
                </a:solidFill>
                <a:latin typeface="Cambria" pitchFamily="34" charset="0"/>
                <a:ea typeface="Cambria" pitchFamily="34" charset="-122"/>
                <a:cs typeface="Cambria" pitchFamily="34" charset="-120"/>
              </a:rPr>
              <a:t>Spring Boot y Thymeleaf</a:t>
            </a:r>
            <a:endParaRPr lang="en-US" sz="1500" dirty="0"/>
          </a:p>
        </p:txBody>
      </p:sp>
      <p:sp>
        <p:nvSpPr>
          <p:cNvPr id="12" name="Text 8"/>
          <p:cNvSpPr txBox="1"/>
          <p:nvPr/>
        </p:nvSpPr>
        <p:spPr>
          <a:xfrm>
            <a:off x="2788920" y="2788920"/>
            <a:ext cx="1508760" cy="914400"/>
          </a:xfrm>
          <a:prstGeom prst="rect">
            <a:avLst/>
          </a:prstGeom>
          <a:noFill/>
          <a:ln/>
        </p:spPr>
        <p:txBody>
          <a:bodyPr wrap="square" lIns="0" tIns="0" rIns="0" bIns="0" rtlCol="0" anchor="t"/>
          <a:lstStyle/>
          <a:p>
            <a:pPr indent="0" marL="0">
              <a:buNone/>
            </a:pPr>
            <a:r>
              <a:rPr lang="en-US" sz="1200" dirty="0">
                <a:solidFill>
                  <a:srgbClr val="161616"/>
                </a:solidFill>
                <a:latin typeface="Calibri" pitchFamily="34" charset="0"/>
                <a:ea typeface="Calibri" pitchFamily="34" charset="-122"/>
                <a:cs typeface="Calibri" pitchFamily="34" charset="-120"/>
              </a:rPr>
              <a:t>Web adaptable al celular sin un frontend separado (RNF03).</a:t>
            </a:r>
            <a:endParaRPr lang="en-US" sz="1200" dirty="0"/>
          </a:p>
        </p:txBody>
      </p:sp>
      <p:sp>
        <p:nvSpPr>
          <p:cNvPr id="13" name="Shape 9"/>
          <p:cNvSpPr/>
          <p:nvPr/>
        </p:nvSpPr>
        <p:spPr>
          <a:xfrm>
            <a:off x="4663440" y="1188720"/>
            <a:ext cx="1920240" cy="2606040"/>
          </a:xfrm>
          <a:prstGeom prst="roundRect">
            <a:avLst>
              <a:gd name="adj" fmla="val 5714"/>
            </a:avLst>
          </a:prstGeom>
          <a:solidFill>
            <a:srgbClr val="F3F3F3"/>
          </a:solidFill>
          <a:ln w="12700">
            <a:solidFill>
              <a:srgbClr val="F3F3F3"/>
            </a:solidFill>
            <a:prstDash val="solid"/>
          </a:ln>
        </p:spPr>
      </p:sp>
      <p:sp>
        <p:nvSpPr>
          <p:cNvPr id="14" name="Shape 10"/>
          <p:cNvSpPr/>
          <p:nvPr/>
        </p:nvSpPr>
        <p:spPr>
          <a:xfrm>
            <a:off x="4892040" y="1417320"/>
            <a:ext cx="640080" cy="640080"/>
          </a:xfrm>
          <a:prstGeom prst="ellipse">
            <a:avLst/>
          </a:prstGeom>
          <a:solidFill>
            <a:srgbClr val="C62828"/>
          </a:solidFill>
          <a:ln w="12700">
            <a:solidFill>
              <a:srgbClr val="C62828"/>
            </a:solidFill>
            <a:prstDash val="solid"/>
          </a:ln>
        </p:spPr>
      </p:sp>
      <p:pic>
        <p:nvPicPr>
          <p:cNvPr id="15" name="Image 2" descr="preencoded.png">    </p:cNvPr>
          <p:cNvPicPr>
            <a:picLocks noChangeAspect="1"/>
          </p:cNvPicPr>
          <p:nvPr/>
        </p:nvPicPr>
        <p:blipFill>
          <a:blip r:embed="rId3"/>
          <a:stretch>
            <a:fillRect/>
          </a:stretch>
        </p:blipFill>
        <p:spPr>
          <a:xfrm>
            <a:off x="5052060" y="1577340"/>
            <a:ext cx="320040" cy="320040"/>
          </a:xfrm>
          <a:prstGeom prst="rect">
            <a:avLst/>
          </a:prstGeom>
        </p:spPr>
      </p:pic>
      <p:sp>
        <p:nvSpPr>
          <p:cNvPr id="16" name="Text 11"/>
          <p:cNvSpPr txBox="1"/>
          <p:nvPr/>
        </p:nvSpPr>
        <p:spPr>
          <a:xfrm>
            <a:off x="4892040" y="2194560"/>
            <a:ext cx="1554480" cy="548640"/>
          </a:xfrm>
          <a:prstGeom prst="rect">
            <a:avLst/>
          </a:prstGeom>
          <a:noFill/>
          <a:ln/>
        </p:spPr>
        <p:txBody>
          <a:bodyPr wrap="square" lIns="0" tIns="0" rIns="0" bIns="0" rtlCol="0" anchor="t"/>
          <a:lstStyle/>
          <a:p>
            <a:pPr indent="0" marL="0">
              <a:buNone/>
            </a:pPr>
            <a:r>
              <a:rPr lang="en-US" sz="1500" b="1" dirty="0">
                <a:solidFill>
                  <a:srgbClr val="161616"/>
                </a:solidFill>
                <a:latin typeface="Cambria" pitchFamily="34" charset="0"/>
                <a:ea typeface="Cambria" pitchFamily="34" charset="-122"/>
                <a:cs typeface="Cambria" pitchFamily="34" charset="-120"/>
              </a:rPr>
              <a:t>PostgreSQL</a:t>
            </a:r>
            <a:endParaRPr lang="en-US" sz="1500" dirty="0"/>
          </a:p>
        </p:txBody>
      </p:sp>
      <p:sp>
        <p:nvSpPr>
          <p:cNvPr id="17" name="Text 12"/>
          <p:cNvSpPr txBox="1"/>
          <p:nvPr/>
        </p:nvSpPr>
        <p:spPr>
          <a:xfrm>
            <a:off x="4892040" y="2788920"/>
            <a:ext cx="1508760" cy="914400"/>
          </a:xfrm>
          <a:prstGeom prst="rect">
            <a:avLst/>
          </a:prstGeom>
          <a:noFill/>
          <a:ln/>
        </p:spPr>
        <p:txBody>
          <a:bodyPr wrap="square" lIns="0" tIns="0" rIns="0" bIns="0" rtlCol="0" anchor="t"/>
          <a:lstStyle/>
          <a:p>
            <a:pPr indent="0" marL="0">
              <a:buNone/>
            </a:pPr>
            <a:r>
              <a:rPr lang="en-US" sz="1200" dirty="0">
                <a:solidFill>
                  <a:srgbClr val="161616"/>
                </a:solidFill>
                <a:latin typeface="Calibri" pitchFamily="34" charset="0"/>
                <a:ea typeface="Calibri" pitchFamily="34" charset="-122"/>
                <a:cs typeface="Calibri" pitchFamily="34" charset="-120"/>
              </a:rPr>
              <a:t>Transacciones que evitan reservas duplicadas (RNF02).</a:t>
            </a:r>
            <a:endParaRPr lang="en-US" sz="1200" dirty="0"/>
          </a:p>
        </p:txBody>
      </p:sp>
      <p:sp>
        <p:nvSpPr>
          <p:cNvPr id="18" name="Shape 13"/>
          <p:cNvSpPr/>
          <p:nvPr/>
        </p:nvSpPr>
        <p:spPr>
          <a:xfrm>
            <a:off x="6766560" y="1188720"/>
            <a:ext cx="1920240" cy="2606040"/>
          </a:xfrm>
          <a:prstGeom prst="roundRect">
            <a:avLst>
              <a:gd name="adj" fmla="val 5714"/>
            </a:avLst>
          </a:prstGeom>
          <a:solidFill>
            <a:srgbClr val="F3F3F3"/>
          </a:solidFill>
          <a:ln w="12700">
            <a:solidFill>
              <a:srgbClr val="F3F3F3"/>
            </a:solidFill>
            <a:prstDash val="solid"/>
          </a:ln>
        </p:spPr>
      </p:sp>
      <p:sp>
        <p:nvSpPr>
          <p:cNvPr id="19" name="Shape 14"/>
          <p:cNvSpPr/>
          <p:nvPr/>
        </p:nvSpPr>
        <p:spPr>
          <a:xfrm>
            <a:off x="6995160" y="1417320"/>
            <a:ext cx="640080" cy="640080"/>
          </a:xfrm>
          <a:prstGeom prst="ellipse">
            <a:avLst/>
          </a:prstGeom>
          <a:solidFill>
            <a:srgbClr val="C62828"/>
          </a:solidFill>
          <a:ln w="12700">
            <a:solidFill>
              <a:srgbClr val="C62828"/>
            </a:solidFill>
            <a:prstDash val="solid"/>
          </a:ln>
        </p:spPr>
      </p:sp>
      <p:pic>
        <p:nvPicPr>
          <p:cNvPr id="20" name="Image 3" descr="preencoded.png">    </p:cNvPr>
          <p:cNvPicPr>
            <a:picLocks noChangeAspect="1"/>
          </p:cNvPicPr>
          <p:nvPr/>
        </p:nvPicPr>
        <p:blipFill>
          <a:blip r:embed="rId4"/>
          <a:stretch>
            <a:fillRect/>
          </a:stretch>
        </p:blipFill>
        <p:spPr>
          <a:xfrm>
            <a:off x="7155180" y="1577340"/>
            <a:ext cx="320040" cy="320040"/>
          </a:xfrm>
          <a:prstGeom prst="rect">
            <a:avLst/>
          </a:prstGeom>
        </p:spPr>
      </p:pic>
      <p:sp>
        <p:nvSpPr>
          <p:cNvPr id="21" name="Text 15"/>
          <p:cNvSpPr txBox="1"/>
          <p:nvPr/>
        </p:nvSpPr>
        <p:spPr>
          <a:xfrm>
            <a:off x="6995160" y="2194560"/>
            <a:ext cx="1554480" cy="548640"/>
          </a:xfrm>
          <a:prstGeom prst="rect">
            <a:avLst/>
          </a:prstGeom>
          <a:noFill/>
          <a:ln/>
        </p:spPr>
        <p:txBody>
          <a:bodyPr wrap="square" lIns="0" tIns="0" rIns="0" bIns="0" rtlCol="0" anchor="t"/>
          <a:lstStyle/>
          <a:p>
            <a:pPr indent="0" marL="0">
              <a:buNone/>
            </a:pPr>
            <a:r>
              <a:rPr lang="en-US" sz="1500" b="1" dirty="0">
                <a:solidFill>
                  <a:srgbClr val="161616"/>
                </a:solidFill>
                <a:latin typeface="Cambria" pitchFamily="34" charset="0"/>
                <a:ea typeface="Cambria" pitchFamily="34" charset="-122"/>
                <a:cs typeface="Cambria" pitchFamily="34" charset="-120"/>
              </a:rPr>
              <a:t>Git y GitHub</a:t>
            </a:r>
            <a:endParaRPr lang="en-US" sz="1500" dirty="0"/>
          </a:p>
        </p:txBody>
      </p:sp>
      <p:sp>
        <p:nvSpPr>
          <p:cNvPr id="22" name="Text 16"/>
          <p:cNvSpPr txBox="1"/>
          <p:nvPr/>
        </p:nvSpPr>
        <p:spPr>
          <a:xfrm>
            <a:off x="6995160" y="2788920"/>
            <a:ext cx="1508760" cy="914400"/>
          </a:xfrm>
          <a:prstGeom prst="rect">
            <a:avLst/>
          </a:prstGeom>
          <a:noFill/>
          <a:ln/>
        </p:spPr>
        <p:txBody>
          <a:bodyPr wrap="square" lIns="0" tIns="0" rIns="0" bIns="0" rtlCol="0" anchor="t"/>
          <a:lstStyle/>
          <a:p>
            <a:pPr indent="0" marL="0">
              <a:buNone/>
            </a:pPr>
            <a:r>
              <a:rPr lang="en-US" sz="1200" dirty="0">
                <a:solidFill>
                  <a:srgbClr val="161616"/>
                </a:solidFill>
                <a:latin typeface="Calibri" pitchFamily="34" charset="0"/>
                <a:ea typeface="Calibri" pitchFamily="34" charset="-122"/>
                <a:cs typeface="Calibri" pitchFamily="34" charset="-120"/>
              </a:rPr>
              <a:t>El historial de commits evidencia el trabajo de ambos.</a:t>
            </a:r>
            <a:endParaRPr lang="en-US" sz="1200" dirty="0"/>
          </a:p>
        </p:txBody>
      </p:sp>
      <p:sp>
        <p:nvSpPr>
          <p:cNvPr id="23" name="Text 17"/>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500" i="1" dirty="0">
                <a:solidFill>
                  <a:srgbClr val="161616"/>
                </a:solidFill>
                <a:latin typeface="Cambria" pitchFamily="34" charset="0"/>
                <a:ea typeface="Cambria" pitchFamily="34" charset="-122"/>
                <a:cs typeface="Cambria" pitchFamily="34" charset="-120"/>
              </a:rPr>
              <a:t>Elegimos lo más simple que cumple los requerimientos: el curso evalúa la calidad del proceso, no la sofisticación del prototipo.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Planificación del semestre</a:t>
            </a:r>
            <a:endParaRPr lang="en-US" sz="2600" dirty="0"/>
          </a:p>
        </p:txBody>
      </p:sp>
      <p:sp>
        <p:nvSpPr>
          <p:cNvPr id="3" name="Shape 1"/>
          <p:cNvSpPr/>
          <p:nvPr/>
        </p:nvSpPr>
        <p:spPr>
          <a:xfrm>
            <a:off x="1045029" y="1783080"/>
            <a:ext cx="7053943" cy="0"/>
          </a:xfrm>
          <a:prstGeom prst="line">
            <a:avLst/>
          </a:prstGeom>
          <a:noFill/>
          <a:ln w="25400">
            <a:solidFill>
              <a:srgbClr val="D0D0D0"/>
            </a:solidFill>
            <a:prstDash val="solid"/>
          </a:ln>
        </p:spPr>
      </p:sp>
      <p:sp>
        <p:nvSpPr>
          <p:cNvPr id="4" name="Shape 2"/>
          <p:cNvSpPr/>
          <p:nvPr/>
        </p:nvSpPr>
        <p:spPr>
          <a:xfrm>
            <a:off x="770709" y="1508760"/>
            <a:ext cx="548640" cy="548640"/>
          </a:xfrm>
          <a:prstGeom prst="ellipse">
            <a:avLst/>
          </a:prstGeom>
          <a:solidFill>
            <a:srgbClr val="C62828"/>
          </a:solidFill>
          <a:ln w="38100">
            <a:solidFill>
              <a:srgbClr val="FFFFFF"/>
            </a:solidFill>
            <a:prstDash val="solid"/>
          </a:ln>
        </p:spPr>
      </p:sp>
      <p:sp>
        <p:nvSpPr>
          <p:cNvPr id="5" name="Text 3"/>
          <p:cNvSpPr txBox="1"/>
          <p:nvPr/>
        </p:nvSpPr>
        <p:spPr>
          <a:xfrm>
            <a:off x="770709" y="15087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L1</a:t>
            </a:r>
            <a:endParaRPr lang="en-US" sz="1300" dirty="0"/>
          </a:p>
        </p:txBody>
      </p:sp>
      <p:sp>
        <p:nvSpPr>
          <p:cNvPr id="6" name="Text 4"/>
          <p:cNvSpPr txBox="1"/>
          <p:nvPr/>
        </p:nvSpPr>
        <p:spPr>
          <a:xfrm>
            <a:off x="478101" y="2176272"/>
            <a:ext cx="1133856" cy="292608"/>
          </a:xfrm>
          <a:prstGeom prst="rect">
            <a:avLst/>
          </a:prstGeom>
          <a:noFill/>
          <a:ln/>
        </p:spPr>
        <p:txBody>
          <a:bodyPr wrap="square" lIns="0" tIns="0" rIns="0" bIns="0"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Definición</a:t>
            </a:r>
            <a:endParaRPr lang="en-US" sz="1200" dirty="0"/>
          </a:p>
        </p:txBody>
      </p:sp>
      <p:sp>
        <p:nvSpPr>
          <p:cNvPr id="7" name="Text 5"/>
          <p:cNvSpPr txBox="1"/>
          <p:nvPr/>
        </p:nvSpPr>
        <p:spPr>
          <a:xfrm>
            <a:off x="478101" y="2468880"/>
            <a:ext cx="1133856" cy="274320"/>
          </a:xfrm>
          <a:prstGeom prst="rect">
            <a:avLst/>
          </a:prstGeom>
          <a:noFill/>
          <a:ln/>
        </p:spPr>
        <p:txBody>
          <a:bodyPr wrap="square" lIns="0" tIns="0" rIns="0" bIns="0" rtlCol="0" anchor="ctr"/>
          <a:lstStyle/>
          <a:p>
            <a:pPr algn="ctr" indent="0" marL="0">
              <a:buNone/>
            </a:pPr>
            <a:r>
              <a:rPr lang="en-US" sz="1100" dirty="0">
                <a:solidFill>
                  <a:srgbClr val="5F6368"/>
                </a:solidFill>
                <a:latin typeface="Calibri" pitchFamily="34" charset="0"/>
                <a:ea typeface="Calibri" pitchFamily="34" charset="-122"/>
                <a:cs typeface="Calibri" pitchFamily="34" charset="-120"/>
              </a:rPr>
              <a:t>Sem. 5</a:t>
            </a:r>
            <a:endParaRPr lang="en-US" sz="1100" dirty="0"/>
          </a:p>
        </p:txBody>
      </p:sp>
      <p:sp>
        <p:nvSpPr>
          <p:cNvPr id="8" name="Text 6"/>
          <p:cNvSpPr txBox="1"/>
          <p:nvPr/>
        </p:nvSpPr>
        <p:spPr>
          <a:xfrm>
            <a:off x="478101" y="2724912"/>
            <a:ext cx="1133856" cy="256032"/>
          </a:xfrm>
          <a:prstGeom prst="rect">
            <a:avLst/>
          </a:prstGeom>
          <a:noFill/>
          <a:ln/>
        </p:spPr>
        <p:txBody>
          <a:bodyPr wrap="square" lIns="0" tIns="0" rIns="0" bIns="0" rtlCol="0" anchor="ctr"/>
          <a:lstStyle/>
          <a:p>
            <a:pPr algn="ctr" indent="0" marL="0">
              <a:buNone/>
            </a:pPr>
            <a:r>
              <a:rPr lang="en-US" sz="1050" dirty="0">
                <a:solidFill>
                  <a:srgbClr val="5F6368"/>
                </a:solidFill>
                <a:latin typeface="Calibri" pitchFamily="34" charset="0"/>
                <a:ea typeface="Calibri" pitchFamily="34" charset="-122"/>
                <a:cs typeface="Calibri" pitchFamily="34" charset="-120"/>
              </a:rPr>
              <a:t>24 sep</a:t>
            </a:r>
            <a:endParaRPr lang="en-US" sz="1050" dirty="0"/>
          </a:p>
        </p:txBody>
      </p:sp>
      <p:sp>
        <p:nvSpPr>
          <p:cNvPr id="9" name="Text 7"/>
          <p:cNvSpPr txBox="1"/>
          <p:nvPr/>
        </p:nvSpPr>
        <p:spPr>
          <a:xfrm>
            <a:off x="478101" y="2980944"/>
            <a:ext cx="1133856" cy="27432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Simón</a:t>
            </a:r>
            <a:endParaRPr lang="en-US" sz="1100" dirty="0"/>
          </a:p>
        </p:txBody>
      </p:sp>
      <p:sp>
        <p:nvSpPr>
          <p:cNvPr id="10" name="Shape 8"/>
          <p:cNvSpPr/>
          <p:nvPr/>
        </p:nvSpPr>
        <p:spPr>
          <a:xfrm>
            <a:off x="1946366" y="1508760"/>
            <a:ext cx="548640" cy="548640"/>
          </a:xfrm>
          <a:prstGeom prst="ellipse">
            <a:avLst/>
          </a:prstGeom>
          <a:solidFill>
            <a:srgbClr val="161616"/>
          </a:solidFill>
          <a:ln w="38100">
            <a:solidFill>
              <a:srgbClr val="FFFFFF"/>
            </a:solidFill>
            <a:prstDash val="solid"/>
          </a:ln>
        </p:spPr>
      </p:sp>
      <p:sp>
        <p:nvSpPr>
          <p:cNvPr id="11" name="Text 9"/>
          <p:cNvSpPr txBox="1"/>
          <p:nvPr/>
        </p:nvSpPr>
        <p:spPr>
          <a:xfrm>
            <a:off x="1946366" y="15087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L2</a:t>
            </a:r>
            <a:endParaRPr lang="en-US" sz="1300" dirty="0"/>
          </a:p>
        </p:txBody>
      </p:sp>
      <p:sp>
        <p:nvSpPr>
          <p:cNvPr id="12" name="Text 10"/>
          <p:cNvSpPr txBox="1"/>
          <p:nvPr/>
        </p:nvSpPr>
        <p:spPr>
          <a:xfrm>
            <a:off x="1653758" y="2176272"/>
            <a:ext cx="1133856" cy="292608"/>
          </a:xfrm>
          <a:prstGeom prst="rect">
            <a:avLst/>
          </a:prstGeom>
          <a:noFill/>
          <a:ln/>
        </p:spPr>
        <p:txBody>
          <a:bodyPr wrap="square" lIns="0" tIns="0" rIns="0" bIns="0"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Requerimientos</a:t>
            </a:r>
            <a:endParaRPr lang="en-US" sz="1200" dirty="0"/>
          </a:p>
        </p:txBody>
      </p:sp>
      <p:sp>
        <p:nvSpPr>
          <p:cNvPr id="13" name="Text 11"/>
          <p:cNvSpPr txBox="1"/>
          <p:nvPr/>
        </p:nvSpPr>
        <p:spPr>
          <a:xfrm>
            <a:off x="1653758" y="2468880"/>
            <a:ext cx="1133856" cy="274320"/>
          </a:xfrm>
          <a:prstGeom prst="rect">
            <a:avLst/>
          </a:prstGeom>
          <a:noFill/>
          <a:ln/>
        </p:spPr>
        <p:txBody>
          <a:bodyPr wrap="square" lIns="0" tIns="0" rIns="0" bIns="0" rtlCol="0" anchor="ctr"/>
          <a:lstStyle/>
          <a:p>
            <a:pPr algn="ctr" indent="0" marL="0">
              <a:buNone/>
            </a:pPr>
            <a:r>
              <a:rPr lang="en-US" sz="1100" dirty="0">
                <a:solidFill>
                  <a:srgbClr val="5F6368"/>
                </a:solidFill>
                <a:latin typeface="Calibri" pitchFamily="34" charset="0"/>
                <a:ea typeface="Calibri" pitchFamily="34" charset="-122"/>
                <a:cs typeface="Calibri" pitchFamily="34" charset="-120"/>
              </a:rPr>
              <a:t>Sem. 6 y 7</a:t>
            </a:r>
            <a:endParaRPr lang="en-US" sz="1100" dirty="0"/>
          </a:p>
        </p:txBody>
      </p:sp>
      <p:sp>
        <p:nvSpPr>
          <p:cNvPr id="14" name="Text 12"/>
          <p:cNvSpPr txBox="1"/>
          <p:nvPr/>
        </p:nvSpPr>
        <p:spPr>
          <a:xfrm>
            <a:off x="1653758" y="2724912"/>
            <a:ext cx="1133856" cy="256032"/>
          </a:xfrm>
          <a:prstGeom prst="rect">
            <a:avLst/>
          </a:prstGeom>
          <a:noFill/>
          <a:ln/>
        </p:spPr>
        <p:txBody>
          <a:bodyPr wrap="square" lIns="0" tIns="0" rIns="0" bIns="0" rtlCol="0" anchor="ctr"/>
          <a:lstStyle/>
          <a:p>
            <a:pPr algn="ctr" indent="0" marL="0">
              <a:buNone/>
            </a:pPr>
            <a:r>
              <a:rPr lang="en-US" sz="1050" dirty="0">
                <a:solidFill>
                  <a:srgbClr val="5F6368"/>
                </a:solidFill>
                <a:latin typeface="Calibri" pitchFamily="34" charset="0"/>
                <a:ea typeface="Calibri" pitchFamily="34" charset="-122"/>
                <a:cs typeface="Calibri" pitchFamily="34" charset="-120"/>
              </a:rPr>
              <a:t>1 y 8 oct</a:t>
            </a:r>
            <a:endParaRPr lang="en-US" sz="1050" dirty="0"/>
          </a:p>
        </p:txBody>
      </p:sp>
      <p:sp>
        <p:nvSpPr>
          <p:cNvPr id="15" name="Text 13"/>
          <p:cNvSpPr txBox="1"/>
          <p:nvPr/>
        </p:nvSpPr>
        <p:spPr>
          <a:xfrm>
            <a:off x="1653758" y="2980944"/>
            <a:ext cx="1133856" cy="27432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Franklin</a:t>
            </a:r>
            <a:endParaRPr lang="en-US" sz="1100" dirty="0"/>
          </a:p>
        </p:txBody>
      </p:sp>
      <p:sp>
        <p:nvSpPr>
          <p:cNvPr id="16" name="Shape 14"/>
          <p:cNvSpPr/>
          <p:nvPr/>
        </p:nvSpPr>
        <p:spPr>
          <a:xfrm>
            <a:off x="3122023" y="1508760"/>
            <a:ext cx="548640" cy="548640"/>
          </a:xfrm>
          <a:prstGeom prst="ellipse">
            <a:avLst/>
          </a:prstGeom>
          <a:solidFill>
            <a:srgbClr val="161616"/>
          </a:solidFill>
          <a:ln w="38100">
            <a:solidFill>
              <a:srgbClr val="FFFFFF"/>
            </a:solidFill>
            <a:prstDash val="solid"/>
          </a:ln>
        </p:spPr>
      </p:sp>
      <p:sp>
        <p:nvSpPr>
          <p:cNvPr id="17" name="Text 15"/>
          <p:cNvSpPr txBox="1"/>
          <p:nvPr/>
        </p:nvSpPr>
        <p:spPr>
          <a:xfrm>
            <a:off x="3122023" y="15087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L3</a:t>
            </a:r>
            <a:endParaRPr lang="en-US" sz="1300" dirty="0"/>
          </a:p>
        </p:txBody>
      </p:sp>
      <p:sp>
        <p:nvSpPr>
          <p:cNvPr id="18" name="Text 16"/>
          <p:cNvSpPr txBox="1"/>
          <p:nvPr/>
        </p:nvSpPr>
        <p:spPr>
          <a:xfrm>
            <a:off x="2829415" y="2176272"/>
            <a:ext cx="1133856" cy="292608"/>
          </a:xfrm>
          <a:prstGeom prst="rect">
            <a:avLst/>
          </a:prstGeom>
          <a:noFill/>
          <a:ln/>
        </p:spPr>
        <p:txBody>
          <a:bodyPr wrap="square" lIns="0" tIns="0" rIns="0" bIns="0"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Modelado</a:t>
            </a:r>
            <a:endParaRPr lang="en-US" sz="1200" dirty="0"/>
          </a:p>
        </p:txBody>
      </p:sp>
      <p:sp>
        <p:nvSpPr>
          <p:cNvPr id="19" name="Text 17"/>
          <p:cNvSpPr txBox="1"/>
          <p:nvPr/>
        </p:nvSpPr>
        <p:spPr>
          <a:xfrm>
            <a:off x="2829415" y="2468880"/>
            <a:ext cx="1133856" cy="274320"/>
          </a:xfrm>
          <a:prstGeom prst="rect">
            <a:avLst/>
          </a:prstGeom>
          <a:noFill/>
          <a:ln/>
        </p:spPr>
        <p:txBody>
          <a:bodyPr wrap="square" lIns="0" tIns="0" rIns="0" bIns="0" rtlCol="0" anchor="ctr"/>
          <a:lstStyle/>
          <a:p>
            <a:pPr algn="ctr" indent="0" marL="0">
              <a:buNone/>
            </a:pPr>
            <a:r>
              <a:rPr lang="en-US" sz="1100" dirty="0">
                <a:solidFill>
                  <a:srgbClr val="5F6368"/>
                </a:solidFill>
                <a:latin typeface="Calibri" pitchFamily="34" charset="0"/>
                <a:ea typeface="Calibri" pitchFamily="34" charset="-122"/>
                <a:cs typeface="Calibri" pitchFamily="34" charset="-120"/>
              </a:rPr>
              <a:t>Sem. 8 y 9</a:t>
            </a:r>
            <a:endParaRPr lang="en-US" sz="1100" dirty="0"/>
          </a:p>
        </p:txBody>
      </p:sp>
      <p:sp>
        <p:nvSpPr>
          <p:cNvPr id="20" name="Text 18"/>
          <p:cNvSpPr txBox="1"/>
          <p:nvPr/>
        </p:nvSpPr>
        <p:spPr>
          <a:xfrm>
            <a:off x="2829415" y="2724912"/>
            <a:ext cx="1133856" cy="256032"/>
          </a:xfrm>
          <a:prstGeom prst="rect">
            <a:avLst/>
          </a:prstGeom>
          <a:noFill/>
          <a:ln/>
        </p:spPr>
        <p:txBody>
          <a:bodyPr wrap="square" lIns="0" tIns="0" rIns="0" bIns="0" rtlCol="0" anchor="ctr"/>
          <a:lstStyle/>
          <a:p>
            <a:pPr algn="ctr" indent="0" marL="0">
              <a:buNone/>
            </a:pPr>
            <a:r>
              <a:rPr lang="en-US" sz="1050" dirty="0">
                <a:solidFill>
                  <a:srgbClr val="5F6368"/>
                </a:solidFill>
                <a:latin typeface="Calibri" pitchFamily="34" charset="0"/>
                <a:ea typeface="Calibri" pitchFamily="34" charset="-122"/>
                <a:cs typeface="Calibri" pitchFamily="34" charset="-120"/>
              </a:rPr>
              <a:t>15 y 22 oct</a:t>
            </a:r>
            <a:endParaRPr lang="en-US" sz="1050" dirty="0"/>
          </a:p>
        </p:txBody>
      </p:sp>
      <p:sp>
        <p:nvSpPr>
          <p:cNvPr id="21" name="Text 19"/>
          <p:cNvSpPr txBox="1"/>
          <p:nvPr/>
        </p:nvSpPr>
        <p:spPr>
          <a:xfrm>
            <a:off x="2829415" y="2980944"/>
            <a:ext cx="1133856" cy="27432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Simón</a:t>
            </a:r>
            <a:endParaRPr lang="en-US" sz="1100" dirty="0"/>
          </a:p>
        </p:txBody>
      </p:sp>
      <p:sp>
        <p:nvSpPr>
          <p:cNvPr id="22" name="Shape 20"/>
          <p:cNvSpPr/>
          <p:nvPr/>
        </p:nvSpPr>
        <p:spPr>
          <a:xfrm>
            <a:off x="4297680" y="1508760"/>
            <a:ext cx="548640" cy="548640"/>
          </a:xfrm>
          <a:prstGeom prst="ellipse">
            <a:avLst/>
          </a:prstGeom>
          <a:solidFill>
            <a:srgbClr val="161616"/>
          </a:solidFill>
          <a:ln w="38100">
            <a:solidFill>
              <a:srgbClr val="FFFFFF"/>
            </a:solidFill>
            <a:prstDash val="solid"/>
          </a:ln>
        </p:spPr>
      </p:sp>
      <p:sp>
        <p:nvSpPr>
          <p:cNvPr id="23" name="Text 21"/>
          <p:cNvSpPr txBox="1"/>
          <p:nvPr/>
        </p:nvSpPr>
        <p:spPr>
          <a:xfrm>
            <a:off x="4297680" y="15087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L4</a:t>
            </a:r>
            <a:endParaRPr lang="en-US" sz="1300" dirty="0"/>
          </a:p>
        </p:txBody>
      </p:sp>
      <p:sp>
        <p:nvSpPr>
          <p:cNvPr id="24" name="Text 22"/>
          <p:cNvSpPr txBox="1"/>
          <p:nvPr/>
        </p:nvSpPr>
        <p:spPr>
          <a:xfrm>
            <a:off x="4005072" y="2176272"/>
            <a:ext cx="1133856" cy="292608"/>
          </a:xfrm>
          <a:prstGeom prst="rect">
            <a:avLst/>
          </a:prstGeom>
          <a:noFill/>
          <a:ln/>
        </p:spPr>
        <p:txBody>
          <a:bodyPr wrap="square" lIns="0" tIns="0" rIns="0" bIns="0"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Diseño</a:t>
            </a:r>
            <a:endParaRPr lang="en-US" sz="1200" dirty="0"/>
          </a:p>
        </p:txBody>
      </p:sp>
      <p:sp>
        <p:nvSpPr>
          <p:cNvPr id="25" name="Text 23"/>
          <p:cNvSpPr txBox="1"/>
          <p:nvPr/>
        </p:nvSpPr>
        <p:spPr>
          <a:xfrm>
            <a:off x="4005072" y="2468880"/>
            <a:ext cx="1133856" cy="274320"/>
          </a:xfrm>
          <a:prstGeom prst="rect">
            <a:avLst/>
          </a:prstGeom>
          <a:noFill/>
          <a:ln/>
        </p:spPr>
        <p:txBody>
          <a:bodyPr wrap="square" lIns="0" tIns="0" rIns="0" bIns="0" rtlCol="0" anchor="ctr"/>
          <a:lstStyle/>
          <a:p>
            <a:pPr algn="ctr" indent="0" marL="0">
              <a:buNone/>
            </a:pPr>
            <a:r>
              <a:rPr lang="en-US" sz="1100" dirty="0">
                <a:solidFill>
                  <a:srgbClr val="5F6368"/>
                </a:solidFill>
                <a:latin typeface="Calibri" pitchFamily="34" charset="0"/>
                <a:ea typeface="Calibri" pitchFamily="34" charset="-122"/>
                <a:cs typeface="Calibri" pitchFamily="34" charset="-120"/>
              </a:rPr>
              <a:t>Sem. 10 a 12</a:t>
            </a:r>
            <a:endParaRPr lang="en-US" sz="1100" dirty="0"/>
          </a:p>
        </p:txBody>
      </p:sp>
      <p:sp>
        <p:nvSpPr>
          <p:cNvPr id="26" name="Text 24"/>
          <p:cNvSpPr txBox="1"/>
          <p:nvPr/>
        </p:nvSpPr>
        <p:spPr>
          <a:xfrm>
            <a:off x="4005072" y="2724912"/>
            <a:ext cx="1133856" cy="256032"/>
          </a:xfrm>
          <a:prstGeom prst="rect">
            <a:avLst/>
          </a:prstGeom>
          <a:noFill/>
          <a:ln/>
        </p:spPr>
        <p:txBody>
          <a:bodyPr wrap="square" lIns="0" tIns="0" rIns="0" bIns="0" rtlCol="0" anchor="ctr"/>
          <a:lstStyle/>
          <a:p>
            <a:pPr algn="ctr" indent="0" marL="0">
              <a:buNone/>
            </a:pPr>
            <a:r>
              <a:rPr lang="en-US" sz="1050" dirty="0">
                <a:solidFill>
                  <a:srgbClr val="5F6368"/>
                </a:solidFill>
                <a:latin typeface="Calibri" pitchFamily="34" charset="0"/>
                <a:ea typeface="Calibri" pitchFamily="34" charset="-122"/>
                <a:cs typeface="Calibri" pitchFamily="34" charset="-120"/>
              </a:rPr>
              <a:t>29 oct a 12 nov</a:t>
            </a:r>
            <a:endParaRPr lang="en-US" sz="1050" dirty="0"/>
          </a:p>
        </p:txBody>
      </p:sp>
      <p:sp>
        <p:nvSpPr>
          <p:cNvPr id="27" name="Text 25"/>
          <p:cNvSpPr txBox="1"/>
          <p:nvPr/>
        </p:nvSpPr>
        <p:spPr>
          <a:xfrm>
            <a:off x="4005072" y="2980944"/>
            <a:ext cx="1133856" cy="27432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Franklin</a:t>
            </a:r>
            <a:endParaRPr lang="en-US" sz="1100" dirty="0"/>
          </a:p>
        </p:txBody>
      </p:sp>
      <p:sp>
        <p:nvSpPr>
          <p:cNvPr id="28" name="Shape 26"/>
          <p:cNvSpPr/>
          <p:nvPr/>
        </p:nvSpPr>
        <p:spPr>
          <a:xfrm>
            <a:off x="5473337" y="1508760"/>
            <a:ext cx="548640" cy="548640"/>
          </a:xfrm>
          <a:prstGeom prst="ellipse">
            <a:avLst/>
          </a:prstGeom>
          <a:solidFill>
            <a:srgbClr val="161616"/>
          </a:solidFill>
          <a:ln w="38100">
            <a:solidFill>
              <a:srgbClr val="FFFFFF"/>
            </a:solidFill>
            <a:prstDash val="solid"/>
          </a:ln>
        </p:spPr>
      </p:sp>
      <p:sp>
        <p:nvSpPr>
          <p:cNvPr id="29" name="Text 27"/>
          <p:cNvSpPr txBox="1"/>
          <p:nvPr/>
        </p:nvSpPr>
        <p:spPr>
          <a:xfrm>
            <a:off x="5473337" y="15087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L5</a:t>
            </a:r>
            <a:endParaRPr lang="en-US" sz="1300" dirty="0"/>
          </a:p>
        </p:txBody>
      </p:sp>
      <p:sp>
        <p:nvSpPr>
          <p:cNvPr id="30" name="Text 28"/>
          <p:cNvSpPr txBox="1"/>
          <p:nvPr/>
        </p:nvSpPr>
        <p:spPr>
          <a:xfrm>
            <a:off x="5180729" y="2176272"/>
            <a:ext cx="1133856" cy="292608"/>
          </a:xfrm>
          <a:prstGeom prst="rect">
            <a:avLst/>
          </a:prstGeom>
          <a:noFill/>
          <a:ln/>
        </p:spPr>
        <p:txBody>
          <a:bodyPr wrap="square" lIns="0" tIns="0" rIns="0" bIns="0"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Prototipo</a:t>
            </a:r>
            <a:endParaRPr lang="en-US" sz="1200" dirty="0"/>
          </a:p>
        </p:txBody>
      </p:sp>
      <p:sp>
        <p:nvSpPr>
          <p:cNvPr id="31" name="Text 29"/>
          <p:cNvSpPr txBox="1"/>
          <p:nvPr/>
        </p:nvSpPr>
        <p:spPr>
          <a:xfrm>
            <a:off x="5180729" y="2468880"/>
            <a:ext cx="1133856" cy="274320"/>
          </a:xfrm>
          <a:prstGeom prst="rect">
            <a:avLst/>
          </a:prstGeom>
          <a:noFill/>
          <a:ln/>
        </p:spPr>
        <p:txBody>
          <a:bodyPr wrap="square" lIns="0" tIns="0" rIns="0" bIns="0" rtlCol="0" anchor="ctr"/>
          <a:lstStyle/>
          <a:p>
            <a:pPr algn="ctr" indent="0" marL="0">
              <a:buNone/>
            </a:pPr>
            <a:r>
              <a:rPr lang="en-US" sz="1100" dirty="0">
                <a:solidFill>
                  <a:srgbClr val="5F6368"/>
                </a:solidFill>
                <a:latin typeface="Calibri" pitchFamily="34" charset="0"/>
                <a:ea typeface="Calibri" pitchFamily="34" charset="-122"/>
                <a:cs typeface="Calibri" pitchFamily="34" charset="-120"/>
              </a:rPr>
              <a:t>Sem. 13 y 14</a:t>
            </a:r>
            <a:endParaRPr lang="en-US" sz="1100" dirty="0"/>
          </a:p>
        </p:txBody>
      </p:sp>
      <p:sp>
        <p:nvSpPr>
          <p:cNvPr id="32" name="Text 30"/>
          <p:cNvSpPr txBox="1"/>
          <p:nvPr/>
        </p:nvSpPr>
        <p:spPr>
          <a:xfrm>
            <a:off x="5180729" y="2724912"/>
            <a:ext cx="1133856" cy="256032"/>
          </a:xfrm>
          <a:prstGeom prst="rect">
            <a:avLst/>
          </a:prstGeom>
          <a:noFill/>
          <a:ln/>
        </p:spPr>
        <p:txBody>
          <a:bodyPr wrap="square" lIns="0" tIns="0" rIns="0" bIns="0" rtlCol="0" anchor="ctr"/>
          <a:lstStyle/>
          <a:p>
            <a:pPr algn="ctr" indent="0" marL="0">
              <a:buNone/>
            </a:pPr>
            <a:r>
              <a:rPr lang="en-US" sz="1050" dirty="0">
                <a:solidFill>
                  <a:srgbClr val="5F6368"/>
                </a:solidFill>
                <a:latin typeface="Calibri" pitchFamily="34" charset="0"/>
                <a:ea typeface="Calibri" pitchFamily="34" charset="-122"/>
                <a:cs typeface="Calibri" pitchFamily="34" charset="-120"/>
              </a:rPr>
              <a:t>19 y 26 nov</a:t>
            </a:r>
            <a:endParaRPr lang="en-US" sz="1050" dirty="0"/>
          </a:p>
        </p:txBody>
      </p:sp>
      <p:sp>
        <p:nvSpPr>
          <p:cNvPr id="33" name="Text 31"/>
          <p:cNvSpPr txBox="1"/>
          <p:nvPr/>
        </p:nvSpPr>
        <p:spPr>
          <a:xfrm>
            <a:off x="5180729" y="2980944"/>
            <a:ext cx="1133856" cy="27432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Simón</a:t>
            </a:r>
            <a:endParaRPr lang="en-US" sz="1100" dirty="0"/>
          </a:p>
        </p:txBody>
      </p:sp>
      <p:sp>
        <p:nvSpPr>
          <p:cNvPr id="34" name="Shape 32"/>
          <p:cNvSpPr/>
          <p:nvPr/>
        </p:nvSpPr>
        <p:spPr>
          <a:xfrm>
            <a:off x="6648994" y="1508760"/>
            <a:ext cx="548640" cy="548640"/>
          </a:xfrm>
          <a:prstGeom prst="ellipse">
            <a:avLst/>
          </a:prstGeom>
          <a:solidFill>
            <a:srgbClr val="161616"/>
          </a:solidFill>
          <a:ln w="38100">
            <a:solidFill>
              <a:srgbClr val="FFFFFF"/>
            </a:solidFill>
            <a:prstDash val="solid"/>
          </a:ln>
        </p:spPr>
      </p:sp>
      <p:sp>
        <p:nvSpPr>
          <p:cNvPr id="35" name="Text 33"/>
          <p:cNvSpPr txBox="1"/>
          <p:nvPr/>
        </p:nvSpPr>
        <p:spPr>
          <a:xfrm>
            <a:off x="6648994" y="15087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L6</a:t>
            </a:r>
            <a:endParaRPr lang="en-US" sz="1300" dirty="0"/>
          </a:p>
        </p:txBody>
      </p:sp>
      <p:sp>
        <p:nvSpPr>
          <p:cNvPr id="36" name="Text 34"/>
          <p:cNvSpPr txBox="1"/>
          <p:nvPr/>
        </p:nvSpPr>
        <p:spPr>
          <a:xfrm>
            <a:off x="6356386" y="2176272"/>
            <a:ext cx="1133856" cy="292608"/>
          </a:xfrm>
          <a:prstGeom prst="rect">
            <a:avLst/>
          </a:prstGeom>
          <a:noFill/>
          <a:ln/>
        </p:spPr>
        <p:txBody>
          <a:bodyPr wrap="square" lIns="0" tIns="0" rIns="0" bIns="0"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Pruebas</a:t>
            </a:r>
            <a:endParaRPr lang="en-US" sz="1200" dirty="0"/>
          </a:p>
        </p:txBody>
      </p:sp>
      <p:sp>
        <p:nvSpPr>
          <p:cNvPr id="37" name="Text 35"/>
          <p:cNvSpPr txBox="1"/>
          <p:nvPr/>
        </p:nvSpPr>
        <p:spPr>
          <a:xfrm>
            <a:off x="6356386" y="2468880"/>
            <a:ext cx="1133856" cy="274320"/>
          </a:xfrm>
          <a:prstGeom prst="rect">
            <a:avLst/>
          </a:prstGeom>
          <a:noFill/>
          <a:ln/>
        </p:spPr>
        <p:txBody>
          <a:bodyPr wrap="square" lIns="0" tIns="0" rIns="0" bIns="0" rtlCol="0" anchor="ctr"/>
          <a:lstStyle/>
          <a:p>
            <a:pPr algn="ctr" indent="0" marL="0">
              <a:buNone/>
            </a:pPr>
            <a:r>
              <a:rPr lang="en-US" sz="1100" dirty="0">
                <a:solidFill>
                  <a:srgbClr val="5F6368"/>
                </a:solidFill>
                <a:latin typeface="Calibri" pitchFamily="34" charset="0"/>
                <a:ea typeface="Calibri" pitchFamily="34" charset="-122"/>
                <a:cs typeface="Calibri" pitchFamily="34" charset="-120"/>
              </a:rPr>
              <a:t>Sem. 15</a:t>
            </a:r>
            <a:endParaRPr lang="en-US" sz="1100" dirty="0"/>
          </a:p>
        </p:txBody>
      </p:sp>
      <p:sp>
        <p:nvSpPr>
          <p:cNvPr id="38" name="Text 36"/>
          <p:cNvSpPr txBox="1"/>
          <p:nvPr/>
        </p:nvSpPr>
        <p:spPr>
          <a:xfrm>
            <a:off x="6356386" y="2724912"/>
            <a:ext cx="1133856" cy="256032"/>
          </a:xfrm>
          <a:prstGeom prst="rect">
            <a:avLst/>
          </a:prstGeom>
          <a:noFill/>
          <a:ln/>
        </p:spPr>
        <p:txBody>
          <a:bodyPr wrap="square" lIns="0" tIns="0" rIns="0" bIns="0" rtlCol="0" anchor="ctr"/>
          <a:lstStyle/>
          <a:p>
            <a:pPr algn="ctr" indent="0" marL="0">
              <a:buNone/>
            </a:pPr>
            <a:r>
              <a:rPr lang="en-US" sz="1050" dirty="0">
                <a:solidFill>
                  <a:srgbClr val="5F6368"/>
                </a:solidFill>
                <a:latin typeface="Calibri" pitchFamily="34" charset="0"/>
                <a:ea typeface="Calibri" pitchFamily="34" charset="-122"/>
                <a:cs typeface="Calibri" pitchFamily="34" charset="-120"/>
              </a:rPr>
              <a:t>3 dic</a:t>
            </a:r>
            <a:endParaRPr lang="en-US" sz="1050" dirty="0"/>
          </a:p>
        </p:txBody>
      </p:sp>
      <p:sp>
        <p:nvSpPr>
          <p:cNvPr id="39" name="Text 37"/>
          <p:cNvSpPr txBox="1"/>
          <p:nvPr/>
        </p:nvSpPr>
        <p:spPr>
          <a:xfrm>
            <a:off x="6356386" y="2980944"/>
            <a:ext cx="1133856" cy="27432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Franklin</a:t>
            </a:r>
            <a:endParaRPr lang="en-US" sz="1100" dirty="0"/>
          </a:p>
        </p:txBody>
      </p:sp>
      <p:sp>
        <p:nvSpPr>
          <p:cNvPr id="40" name="Shape 38"/>
          <p:cNvSpPr/>
          <p:nvPr/>
        </p:nvSpPr>
        <p:spPr>
          <a:xfrm>
            <a:off x="7824651" y="1508760"/>
            <a:ext cx="548640" cy="548640"/>
          </a:xfrm>
          <a:prstGeom prst="ellipse">
            <a:avLst/>
          </a:prstGeom>
          <a:solidFill>
            <a:srgbClr val="161616"/>
          </a:solidFill>
          <a:ln w="38100">
            <a:solidFill>
              <a:srgbClr val="FFFFFF"/>
            </a:solidFill>
            <a:prstDash val="solid"/>
          </a:ln>
        </p:spPr>
      </p:sp>
      <p:sp>
        <p:nvSpPr>
          <p:cNvPr id="41" name="Text 39"/>
          <p:cNvSpPr txBox="1"/>
          <p:nvPr/>
        </p:nvSpPr>
        <p:spPr>
          <a:xfrm>
            <a:off x="7824651" y="150876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L7</a:t>
            </a:r>
            <a:endParaRPr lang="en-US" sz="1300" dirty="0"/>
          </a:p>
        </p:txBody>
      </p:sp>
      <p:sp>
        <p:nvSpPr>
          <p:cNvPr id="42" name="Text 40"/>
          <p:cNvSpPr txBox="1"/>
          <p:nvPr/>
        </p:nvSpPr>
        <p:spPr>
          <a:xfrm>
            <a:off x="7532043" y="2176272"/>
            <a:ext cx="1133856" cy="292608"/>
          </a:xfrm>
          <a:prstGeom prst="rect">
            <a:avLst/>
          </a:prstGeom>
          <a:noFill/>
          <a:ln/>
        </p:spPr>
        <p:txBody>
          <a:bodyPr wrap="square" lIns="0" tIns="0" rIns="0" bIns="0"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Presentación</a:t>
            </a:r>
            <a:endParaRPr lang="en-US" sz="1200" dirty="0"/>
          </a:p>
        </p:txBody>
      </p:sp>
      <p:sp>
        <p:nvSpPr>
          <p:cNvPr id="43" name="Text 41"/>
          <p:cNvSpPr txBox="1"/>
          <p:nvPr/>
        </p:nvSpPr>
        <p:spPr>
          <a:xfrm>
            <a:off x="7532043" y="2468880"/>
            <a:ext cx="1133856" cy="274320"/>
          </a:xfrm>
          <a:prstGeom prst="rect">
            <a:avLst/>
          </a:prstGeom>
          <a:noFill/>
          <a:ln/>
        </p:spPr>
        <p:txBody>
          <a:bodyPr wrap="square" lIns="0" tIns="0" rIns="0" bIns="0" rtlCol="0" anchor="ctr"/>
          <a:lstStyle/>
          <a:p>
            <a:pPr algn="ctr" indent="0" marL="0">
              <a:buNone/>
            </a:pPr>
            <a:r>
              <a:rPr lang="en-US" sz="1100" dirty="0">
                <a:solidFill>
                  <a:srgbClr val="5F6368"/>
                </a:solidFill>
                <a:latin typeface="Calibri" pitchFamily="34" charset="0"/>
                <a:ea typeface="Calibri" pitchFamily="34" charset="-122"/>
                <a:cs typeface="Calibri" pitchFamily="34" charset="-120"/>
              </a:rPr>
              <a:t>Sem. 17</a:t>
            </a:r>
            <a:endParaRPr lang="en-US" sz="1100" dirty="0"/>
          </a:p>
        </p:txBody>
      </p:sp>
      <p:sp>
        <p:nvSpPr>
          <p:cNvPr id="44" name="Text 42"/>
          <p:cNvSpPr txBox="1"/>
          <p:nvPr/>
        </p:nvSpPr>
        <p:spPr>
          <a:xfrm>
            <a:off x="7532043" y="2724912"/>
            <a:ext cx="1133856" cy="256032"/>
          </a:xfrm>
          <a:prstGeom prst="rect">
            <a:avLst/>
          </a:prstGeom>
          <a:noFill/>
          <a:ln/>
        </p:spPr>
        <p:txBody>
          <a:bodyPr wrap="square" lIns="0" tIns="0" rIns="0" bIns="0" rtlCol="0" anchor="ctr"/>
          <a:lstStyle/>
          <a:p>
            <a:pPr algn="ctr" indent="0" marL="0">
              <a:buNone/>
            </a:pPr>
            <a:r>
              <a:rPr lang="en-US" sz="1050" dirty="0">
                <a:solidFill>
                  <a:srgbClr val="5F6368"/>
                </a:solidFill>
                <a:latin typeface="Calibri" pitchFamily="34" charset="0"/>
                <a:ea typeface="Calibri" pitchFamily="34" charset="-122"/>
                <a:cs typeface="Calibri" pitchFamily="34" charset="-120"/>
              </a:rPr>
              <a:t>17 dic</a:t>
            </a:r>
            <a:endParaRPr lang="en-US" sz="1050" dirty="0"/>
          </a:p>
        </p:txBody>
      </p:sp>
      <p:sp>
        <p:nvSpPr>
          <p:cNvPr id="45" name="Text 43"/>
          <p:cNvSpPr txBox="1"/>
          <p:nvPr/>
        </p:nvSpPr>
        <p:spPr>
          <a:xfrm>
            <a:off x="7532043" y="2980944"/>
            <a:ext cx="1133856" cy="27432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Ambos</a:t>
            </a:r>
            <a:endParaRPr lang="en-US" sz="1100" dirty="0"/>
          </a:p>
        </p:txBody>
      </p:sp>
      <p:sp>
        <p:nvSpPr>
          <p:cNvPr id="46" name="Shape 44"/>
          <p:cNvSpPr/>
          <p:nvPr/>
        </p:nvSpPr>
        <p:spPr>
          <a:xfrm>
            <a:off x="457200" y="3474720"/>
            <a:ext cx="8229600" cy="960120"/>
          </a:xfrm>
          <a:prstGeom prst="roundRect">
            <a:avLst>
              <a:gd name="adj" fmla="val 9524"/>
            </a:avLst>
          </a:prstGeom>
          <a:solidFill>
            <a:srgbClr val="F3F3F3"/>
          </a:solidFill>
          <a:ln w="12700">
            <a:solidFill>
              <a:srgbClr val="F3F3F3"/>
            </a:solidFill>
            <a:prstDash val="solid"/>
          </a:ln>
        </p:spPr>
      </p:sp>
      <p:sp>
        <p:nvSpPr>
          <p:cNvPr id="47" name="Text 45"/>
          <p:cNvSpPr txBox="1"/>
          <p:nvPr/>
        </p:nvSpPr>
        <p:spPr>
          <a:xfrm>
            <a:off x="685800" y="3474720"/>
            <a:ext cx="7772400" cy="960120"/>
          </a:xfrm>
          <a:prstGeom prst="rect">
            <a:avLst/>
          </a:prstGeom>
          <a:noFill/>
          <a:ln/>
        </p:spPr>
        <p:txBody>
          <a:bodyPr wrap="square" lIns="0" tIns="0" rIns="0" bIns="0" rtlCol="0" anchor="ctr"/>
          <a:lstStyle/>
          <a:p>
            <a:pPr indent="0" marL="0">
              <a:spcAft>
                <a:spcPts val="600"/>
              </a:spcAft>
              <a:buNone/>
            </a:pPr>
            <a:r>
              <a:rPr lang="en-US" sz="1300" dirty="0">
                <a:solidFill>
                  <a:srgbClr val="161616"/>
                </a:solidFill>
                <a:latin typeface="Calibri" pitchFamily="34" charset="0"/>
                <a:ea typeface="Calibri" pitchFamily="34" charset="-122"/>
                <a:cs typeface="Calibri" pitchFamily="34" charset="-120"/>
              </a:rPr>
              <a:t>Quien lidera coordina la entrega, pero ambos escriben, hacen commits y pueden explicarlo todo.</a:t>
            </a:r>
            <a:endParaRPr lang="en-US" sz="1300" dirty="0"/>
          </a:p>
          <a:p>
            <a:pPr indent="0" marL="0">
              <a:spcAft>
                <a:spcPts val="600"/>
              </a:spcAft>
              <a:buNone/>
            </a:pPr>
            <a:r>
              <a:rPr lang="en-US" sz="1300" dirty="0">
                <a:solidFill>
                  <a:srgbClr val="161616"/>
                </a:solidFill>
                <a:latin typeface="Calibri" pitchFamily="34" charset="0"/>
                <a:ea typeface="Calibri" pitchFamily="34" charset="-122"/>
                <a:cs typeface="Calibri" pitchFamily="34" charset="-120"/>
              </a:rPr>
              <a:t>Reunión semanal y tareas como issues en GitHub. PEP1 el 22 de octubre y PEP2 el 10 de diciembre.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600" b="1" dirty="0">
                <a:solidFill>
                  <a:srgbClr val="161616"/>
                </a:solidFill>
                <a:latin typeface="Cambria" pitchFamily="34" charset="0"/>
                <a:ea typeface="Cambria" pitchFamily="34" charset="-122"/>
                <a:cs typeface="Cambria" pitchFamily="34" charset="-120"/>
              </a:rPr>
              <a:t>Riesgos y mitigación</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914400"/>
                <a:gridCol w="45720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Riesgo</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6161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Impacto</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6161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Mitigación</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61616"/>
                    </a:solidFill>
                  </a:tcPr>
                </a:tc>
              </a:tr>
              <a:tr h="566928">
                <a:tc>
                  <a:txBody>
                    <a:bodyPr/>
                    <a:lstStyle/>
                    <a:p>
                      <a:pPr indent="0" marL="0">
                        <a:buNone/>
                      </a:pPr>
                      <a:r>
                        <a:rPr lang="en-US" sz="1300" dirty="0">
                          <a:solidFill>
                            <a:srgbClr val="161616"/>
                          </a:solidFill>
                          <a:latin typeface="Calibri" pitchFamily="34" charset="0"/>
                          <a:ea typeface="Calibri" pitchFamily="34" charset="-122"/>
                          <a:cs typeface="Calibri" pitchFamily="34" charset="-120"/>
                        </a:rPr>
                        <a:t>Carga de trabajo para un equipo de dos</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b="1" dirty="0">
                          <a:solidFill>
                            <a:srgbClr val="161616"/>
                          </a:solidFill>
                          <a:latin typeface="Calibri" pitchFamily="34" charset="0"/>
                          <a:ea typeface="Calibri" pitchFamily="34" charset="-122"/>
                          <a:cs typeface="Calibri" pitchFamily="34" charset="-120"/>
                        </a:rPr>
                        <a:t>Alto</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latin typeface="Calibri" pitchFamily="34" charset="0"/>
                          <a:ea typeface="Calibri" pitchFamily="34" charset="-122"/>
                          <a:cs typeface="Calibri" pitchFamily="34" charset="-120"/>
                        </a:rPr>
                        <a:t>Alcance acotado y prototipo solo del flujo principal</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61616"/>
                          </a:solidFill>
                          <a:latin typeface="Calibri" pitchFamily="34" charset="0"/>
                          <a:ea typeface="Calibri" pitchFamily="34" charset="-122"/>
                          <a:cs typeface="Calibri" pitchFamily="34" charset="-120"/>
                        </a:rPr>
                        <a:t>Crecimiento del alcance</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3F3F3"/>
                    </a:solidFill>
                  </a:tcPr>
                </a:tc>
                <a:tc>
                  <a:txBody>
                    <a:bodyPr/>
                    <a:lstStyle/>
                    <a:p>
                      <a:pPr indent="0" marL="0">
                        <a:buNone/>
                      </a:pPr>
                      <a:r>
                        <a:rPr lang="en-US" sz="1300" b="1" dirty="0">
                          <a:solidFill>
                            <a:srgbClr val="161616"/>
                          </a:solidFill>
                          <a:latin typeface="Calibri" pitchFamily="34" charset="0"/>
                          <a:ea typeface="Calibri" pitchFamily="34" charset="-122"/>
                          <a:cs typeface="Calibri" pitchFamily="34" charset="-120"/>
                        </a:rPr>
                        <a:t>Alto</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3F3F3"/>
                    </a:solidFill>
                  </a:tcPr>
                </a:tc>
                <a:tc>
                  <a:txBody>
                    <a:bodyPr/>
                    <a:lstStyle/>
                    <a:p>
                      <a:pPr indent="0" marL="0">
                        <a:buNone/>
                      </a:pPr>
                      <a:r>
                        <a:rPr lang="en-US" sz="1300" dirty="0">
                          <a:solidFill>
                            <a:srgbClr val="161616"/>
                          </a:solidFill>
                          <a:latin typeface="Calibri" pitchFamily="34" charset="0"/>
                          <a:ea typeface="Calibri" pitchFamily="34" charset="-122"/>
                          <a:cs typeface="Calibri" pitchFamily="34" charset="-120"/>
                        </a:rPr>
                        <a:t>Exclusiones explícitas; todo agregado se compara con las prioridades</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3F3F3"/>
                    </a:solidFill>
                  </a:tcPr>
                </a:tc>
              </a:tr>
              <a:tr h="566928">
                <a:tc>
                  <a:txBody>
                    <a:bodyPr/>
                    <a:lstStyle/>
                    <a:p>
                      <a:pPr indent="0" marL="0">
                        <a:buNone/>
                      </a:pPr>
                      <a:r>
                        <a:rPr lang="en-US" sz="1300" dirty="0">
                          <a:solidFill>
                            <a:srgbClr val="161616"/>
                          </a:solidFill>
                          <a:latin typeface="Calibri" pitchFamily="34" charset="0"/>
                          <a:ea typeface="Calibri" pitchFamily="34" charset="-122"/>
                          <a:cs typeface="Calibri" pitchFamily="34" charset="-120"/>
                        </a:rPr>
                        <a:t>El L3 coincide con la PEP1 (22 de octubre)</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b="1" dirty="0">
                          <a:solidFill>
                            <a:srgbClr val="161616"/>
                          </a:solidFill>
                          <a:latin typeface="Calibri" pitchFamily="34" charset="0"/>
                          <a:ea typeface="Calibri" pitchFamily="34" charset="-122"/>
                          <a:cs typeface="Calibri" pitchFamily="34" charset="-120"/>
                        </a:rPr>
                        <a:t>Medio</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latin typeface="Calibri" pitchFamily="34" charset="0"/>
                          <a:ea typeface="Calibri" pitchFamily="34" charset="-122"/>
                          <a:cs typeface="Calibri" pitchFamily="34" charset="-120"/>
                        </a:rPr>
                        <a:t>Adelantar el modelado a la semana 8</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61616"/>
                          </a:solidFill>
                          <a:latin typeface="Calibri" pitchFamily="34" charset="0"/>
                          <a:ea typeface="Calibri" pitchFamily="34" charset="-122"/>
                          <a:cs typeface="Calibri" pitchFamily="34" charset="-120"/>
                        </a:rPr>
                        <a:t>Curva de aprendizaje del framework web</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3F3F3"/>
                    </a:solidFill>
                  </a:tcPr>
                </a:tc>
                <a:tc>
                  <a:txBody>
                    <a:bodyPr/>
                    <a:lstStyle/>
                    <a:p>
                      <a:pPr indent="0" marL="0">
                        <a:buNone/>
                      </a:pPr>
                      <a:r>
                        <a:rPr lang="en-US" sz="1300" b="1" dirty="0">
                          <a:solidFill>
                            <a:srgbClr val="161616"/>
                          </a:solidFill>
                          <a:latin typeface="Calibri" pitchFamily="34" charset="0"/>
                          <a:ea typeface="Calibri" pitchFamily="34" charset="-122"/>
                          <a:cs typeface="Calibri" pitchFamily="34" charset="-120"/>
                        </a:rPr>
                        <a:t>Medio</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3F3F3"/>
                    </a:solidFill>
                  </a:tcPr>
                </a:tc>
                <a:tc>
                  <a:txBody>
                    <a:bodyPr/>
                    <a:lstStyle/>
                    <a:p>
                      <a:pPr indent="0" marL="0">
                        <a:buNone/>
                      </a:pPr>
                      <a:r>
                        <a:rPr lang="en-US" sz="1300" dirty="0">
                          <a:solidFill>
                            <a:srgbClr val="161616"/>
                          </a:solidFill>
                          <a:latin typeface="Calibri" pitchFamily="34" charset="0"/>
                          <a:ea typeface="Calibri" pitchFamily="34" charset="-122"/>
                          <a:cs typeface="Calibri" pitchFamily="34" charset="-120"/>
                        </a:rPr>
                        <a:t>Prueba mínima con un formulario y la base de datos antes del L4</a:t>
                      </a:r>
                      <a:endParaRPr lang="en-US" sz="1300" dirty="0">
                        <a:latin typeface="Calibri" charset="0"/>
                        <a:ea typeface="Calibri" charset="0"/>
                        <a:cs typeface="Calibri" charset="0"/>
                      </a:endParaRPr>
                    </a:p>
                  </a:txBody>
                  <a:tcPr marL="73152" marR="73152" marT="73152" marB="73152"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3F3F3"/>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616"/>
        </a:solidFill>
      </p:bgPr>
    </p:bg>
    <p:spTree>
      <p:nvGrpSpPr>
        <p:cNvPr id="1" name=""/>
        <p:cNvGrpSpPr/>
        <p:nvPr/>
      </p:nvGrpSpPr>
      <p:grpSpPr>
        <a:xfrm>
          <a:off x="0" y="0"/>
          <a:ext cx="0" cy="0"/>
          <a:chOff x="0" y="0"/>
          <a:chExt cx="0" cy="0"/>
        </a:xfrm>
      </p:grpSpPr>
      <p:sp>
        <p:nvSpPr>
          <p:cNvPr id="2" name="Text 0"/>
          <p:cNvSpPr txBox="1"/>
          <p:nvPr/>
        </p:nvSpPr>
        <p:spPr>
          <a:xfrm>
            <a:off x="457200" y="914400"/>
            <a:ext cx="82296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Cada trabajo, en un solo lugar.</a:t>
            </a:r>
            <a:endParaRPr lang="en-US" sz="3800" dirty="0"/>
          </a:p>
        </p:txBody>
      </p:sp>
      <p:sp>
        <p:nvSpPr>
          <p:cNvPr id="3" name="Text 1"/>
          <p:cNvSpPr txBox="1"/>
          <p:nvPr/>
        </p:nvSpPr>
        <p:spPr>
          <a:xfrm>
            <a:off x="457200" y="2103120"/>
            <a:ext cx="4572000" cy="320040"/>
          </a:xfrm>
          <a:prstGeom prst="rect">
            <a:avLst/>
          </a:prstGeom>
          <a:noFill/>
          <a:ln/>
        </p:spPr>
        <p:txBody>
          <a:bodyPr wrap="square" lIns="0" tIns="0" rIns="0" bIns="0" rtlCol="0" anchor="ctr"/>
          <a:lstStyle/>
          <a:p>
            <a:pPr indent="0" marL="0">
              <a:buNone/>
            </a:pPr>
            <a:r>
              <a:rPr lang="en-US" sz="1300" b="1" spc="200" kern="0" dirty="0">
                <a:solidFill>
                  <a:srgbClr val="E57373"/>
                </a:solidFill>
                <a:latin typeface="Calibri" pitchFamily="34" charset="0"/>
                <a:ea typeface="Calibri" pitchFamily="34" charset="-122"/>
                <a:cs typeface="Calibri" pitchFamily="34" charset="-120"/>
              </a:rPr>
              <a:t>PRÓXIMOS PASOS</a:t>
            </a:r>
            <a:endParaRPr lang="en-US" sz="1300" dirty="0"/>
          </a:p>
        </p:txBody>
      </p:sp>
      <p:sp>
        <p:nvSpPr>
          <p:cNvPr id="4" name="Text 2"/>
          <p:cNvSpPr txBox="1"/>
          <p:nvPr/>
        </p:nvSpPr>
        <p:spPr>
          <a:xfrm>
            <a:off x="457200" y="2514600"/>
            <a:ext cx="822960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Validar los hallazgos con el tatuador entrevistado</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Casos de uso y requerimientos refinados para el L2</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Repositorio activo con commits de ambos desde el L1</a:t>
            </a:r>
            <a:endParaRPr lang="en-US" sz="1600" dirty="0"/>
          </a:p>
        </p:txBody>
      </p:sp>
      <p:sp>
        <p:nvSpPr>
          <p:cNvPr id="5" name="Text 3"/>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500" dirty="0">
                <a:solidFill>
                  <a:srgbClr val="BDBDBD"/>
                </a:solidFill>
                <a:latin typeface="Calibri" pitchFamily="34" charset="0"/>
                <a:ea typeface="Calibri" pitchFamily="34" charset="-122"/>
                <a:cs typeface="Calibri" pitchFamily="34" charset="-120"/>
              </a:rPr>
              <a:t>Repositorio: </a:t>
            </a:r>
            <a:pPr indent="0" marL="0">
              <a:buNone/>
            </a:pPr>
            <a:r>
              <a:rPr lang="en-US" sz="1500" b="1" u="sng" dirty="0">
                <a:solidFill>
                  <a:srgbClr val="E5737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github.com/simonfarias/inkflow</a:t>
            </a:r>
            <a:endParaRPr lang="en-US" sz="1500" dirty="0"/>
          </a:p>
        </p:txBody>
      </p:sp>
      <p:sp>
        <p:nvSpPr>
          <p:cNvPr id="6" name="Text 4"/>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200" dirty="0">
                <a:solidFill>
                  <a:srgbClr val="BDBDBD"/>
                </a:solidFill>
                <a:latin typeface="Calibri" pitchFamily="34" charset="0"/>
                <a:ea typeface="Calibri" pitchFamily="34" charset="-122"/>
                <a:cs typeface="Calibri" pitchFamily="34" charset="-120"/>
              </a:rPr>
              <a:t>Simón Farías · Franklin Miranda · FISO, USACH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InkFlow - L1 Definición y planificación</dc:title>
  <dc:subject>PptxGenJS Presentation</dc:subject>
  <dc:creator>PptxGenJS</dc:creator>
  <cp:lastModifiedBy>PptxGenJS</cp:lastModifiedBy>
  <cp:revision>1</cp:revision>
  <dcterms:created xsi:type="dcterms:W3CDTF">2026-10-01T02:12:19Z</dcterms:created>
  <dcterms:modified xsi:type="dcterms:W3CDTF">2026-10-01T02:12:19Z</dcterms:modified>
</cp:coreProperties>
</file>